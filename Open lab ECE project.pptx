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70" r:id="rId3"/>
    <p:sldId id="259" r:id="rId4"/>
    <p:sldId id="268" r:id="rId5"/>
    <p:sldId id="269" r:id="rId6"/>
    <p:sldId id="271" r:id="rId7"/>
    <p:sldId id="258" r:id="rId8"/>
    <p:sldId id="262" r:id="rId9"/>
    <p:sldId id="260" r:id="rId10"/>
    <p:sldId id="264" r:id="rId11"/>
    <p:sldId id="263" r:id="rId12"/>
    <p:sldId id="272" r:id="rId13"/>
    <p:sldId id="265" r:id="rId14"/>
    <p:sldId id="267"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63" autoAdjust="0"/>
    <p:restoredTop sz="94660"/>
  </p:normalViewPr>
  <p:slideViewPr>
    <p:cSldViewPr snapToGrid="0">
      <p:cViewPr varScale="1">
        <p:scale>
          <a:sx n="79" d="100"/>
          <a:sy n="79" d="100"/>
        </p:scale>
        <p:origin x="21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Banlore</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A6979AF-5A23-4E04-A841-A64D3D2CA510}" type="datetimeFigureOut">
              <a:rPr lang="en-US" smtClean="0"/>
              <a:t>10/16/2026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B0ED6C-CF01-4756-ACBC-2208A162A9A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Banlore</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C388BE-1116-4BAE-8C00-ABE735C5CC47}" type="datetimeFigureOut">
              <a:rPr lang="en-US" smtClean="0"/>
              <a:t>10/16/2026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AC4A1B-DC33-4640-9673-4A68C711F709}" type="slidenum">
              <a:rPr lang="en-US" smtClean="0"/>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AAC4A1B-DC33-4640-9673-4A68C711F709}" type="slidenum">
              <a:rPr lang="en-US" smtClean="0"/>
              <a:t>1</a:t>
            </a:fld>
            <a:endParaRPr lang="en-US"/>
          </a:p>
        </p:txBody>
      </p:sp>
      <p:sp>
        <p:nvSpPr>
          <p:cNvPr id="5" name="Header Placeholder 4"/>
          <p:cNvSpPr>
            <a:spLocks noGrp="1"/>
          </p:cNvSpPr>
          <p:nvPr>
            <p:ph type="hdr" sz="quarter" idx="11"/>
          </p:nvPr>
        </p:nvSpPr>
        <p:spPr/>
        <p:txBody>
          <a:bodyPr/>
          <a:lstStyle/>
          <a:p>
            <a:r>
              <a:rPr lang="en-US"/>
              <a:t>Banlore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703B-3BF8-42D2-8563-5C18591100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449481-A02C-492E-9713-B6F820C3D8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1580CC-9F41-47D8-AA1D-4787149CEEB2}"/>
              </a:ext>
            </a:extLst>
          </p:cNvPr>
          <p:cNvSpPr>
            <a:spLocks noGrp="1"/>
          </p:cNvSpPr>
          <p:nvPr>
            <p:ph type="dt" sz="half" idx="10"/>
          </p:nvPr>
        </p:nvSpPr>
        <p:spPr/>
        <p:txBody>
          <a:bodyPr/>
          <a:lstStyle/>
          <a:p>
            <a:fld id="{6AC3BEE0-72E1-4CB8-9832-6A50678B08EE}" type="datetime1">
              <a:rPr lang="en-IN" smtClean="0"/>
              <a:t>16-10-2026</a:t>
            </a:fld>
            <a:endParaRPr lang="en-IN"/>
          </a:p>
        </p:txBody>
      </p:sp>
      <p:sp>
        <p:nvSpPr>
          <p:cNvPr id="5" name="Footer Placeholder 4">
            <a:extLst>
              <a:ext uri="{FF2B5EF4-FFF2-40B4-BE49-F238E27FC236}">
                <a16:creationId xmlns:a16="http://schemas.microsoft.com/office/drawing/2014/main" id="{E9B63945-9275-4FE1-8C4A-B6BBC2D6AFC6}"/>
              </a:ext>
            </a:extLst>
          </p:cNvPr>
          <p:cNvSpPr>
            <a:spLocks noGrp="1"/>
          </p:cNvSpPr>
          <p:nvPr>
            <p:ph type="ftr" sz="quarter" idx="11"/>
          </p:nvPr>
        </p:nvSpPr>
        <p:spPr/>
        <p:txBody>
          <a:bodyPr/>
          <a:lstStyle/>
          <a:p>
            <a:r>
              <a:rPr lang="en-IN"/>
              <a:t>19ECE384 / Open Lab ,VI Semester, B.Tech(ECE-A)</a:t>
            </a:r>
          </a:p>
        </p:txBody>
      </p:sp>
      <p:sp>
        <p:nvSpPr>
          <p:cNvPr id="6" name="Slide Number Placeholder 5">
            <a:extLst>
              <a:ext uri="{FF2B5EF4-FFF2-40B4-BE49-F238E27FC236}">
                <a16:creationId xmlns:a16="http://schemas.microsoft.com/office/drawing/2014/main" id="{0C3C005A-8538-44A0-950C-4B53ECC87449}"/>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2744854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E2029-289D-48DE-92E4-33F6672A11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BEF6BE-3870-4C79-9F6C-CAAED561BC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52B66E-C79F-415D-A3B0-48715575290C}"/>
              </a:ext>
            </a:extLst>
          </p:cNvPr>
          <p:cNvSpPr>
            <a:spLocks noGrp="1"/>
          </p:cNvSpPr>
          <p:nvPr>
            <p:ph type="dt" sz="half" idx="10"/>
          </p:nvPr>
        </p:nvSpPr>
        <p:spPr/>
        <p:txBody>
          <a:bodyPr/>
          <a:lstStyle/>
          <a:p>
            <a:fld id="{23866D8F-7F94-4E9A-9869-BA53CE9DB797}" type="datetime1">
              <a:rPr lang="en-IN" smtClean="0"/>
              <a:t>16-10-2026</a:t>
            </a:fld>
            <a:endParaRPr lang="en-IN"/>
          </a:p>
        </p:txBody>
      </p:sp>
      <p:sp>
        <p:nvSpPr>
          <p:cNvPr id="5" name="Footer Placeholder 4">
            <a:extLst>
              <a:ext uri="{FF2B5EF4-FFF2-40B4-BE49-F238E27FC236}">
                <a16:creationId xmlns:a16="http://schemas.microsoft.com/office/drawing/2014/main" id="{DC3A23FB-1FF7-45FB-AE39-DC852FB0B383}"/>
              </a:ext>
            </a:extLst>
          </p:cNvPr>
          <p:cNvSpPr>
            <a:spLocks noGrp="1"/>
          </p:cNvSpPr>
          <p:nvPr>
            <p:ph type="ftr" sz="quarter" idx="11"/>
          </p:nvPr>
        </p:nvSpPr>
        <p:spPr/>
        <p:txBody>
          <a:bodyPr/>
          <a:lstStyle/>
          <a:p>
            <a:r>
              <a:rPr lang="en-IN"/>
              <a:t>19ECE384 / Open Lab ,VI Semester, B.Tech(ECE-A)</a:t>
            </a:r>
          </a:p>
        </p:txBody>
      </p:sp>
      <p:sp>
        <p:nvSpPr>
          <p:cNvPr id="6" name="Slide Number Placeholder 5">
            <a:extLst>
              <a:ext uri="{FF2B5EF4-FFF2-40B4-BE49-F238E27FC236}">
                <a16:creationId xmlns:a16="http://schemas.microsoft.com/office/drawing/2014/main" id="{D4FFCFC1-D5A2-4E33-AC16-08DFACE80529}"/>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115754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8061A-9B5D-4B9F-BF85-D4FA82674F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92B8F3-EBAB-4B52-B650-CF70756548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AC8A8B-7B18-43D1-8374-5B6D0EB4D823}"/>
              </a:ext>
            </a:extLst>
          </p:cNvPr>
          <p:cNvSpPr>
            <a:spLocks noGrp="1"/>
          </p:cNvSpPr>
          <p:nvPr>
            <p:ph type="dt" sz="half" idx="10"/>
          </p:nvPr>
        </p:nvSpPr>
        <p:spPr/>
        <p:txBody>
          <a:bodyPr/>
          <a:lstStyle/>
          <a:p>
            <a:fld id="{1BB449AA-E8EA-4F75-BB5D-DC76399E6D02}" type="datetime1">
              <a:rPr lang="en-IN" smtClean="0"/>
              <a:t>16-10-2026</a:t>
            </a:fld>
            <a:endParaRPr lang="en-IN"/>
          </a:p>
        </p:txBody>
      </p:sp>
      <p:sp>
        <p:nvSpPr>
          <p:cNvPr id="5" name="Footer Placeholder 4">
            <a:extLst>
              <a:ext uri="{FF2B5EF4-FFF2-40B4-BE49-F238E27FC236}">
                <a16:creationId xmlns:a16="http://schemas.microsoft.com/office/drawing/2014/main" id="{1C9DCB61-C285-4364-BF5E-F9BCAA790FD7}"/>
              </a:ext>
            </a:extLst>
          </p:cNvPr>
          <p:cNvSpPr>
            <a:spLocks noGrp="1"/>
          </p:cNvSpPr>
          <p:nvPr>
            <p:ph type="ftr" sz="quarter" idx="11"/>
          </p:nvPr>
        </p:nvSpPr>
        <p:spPr/>
        <p:txBody>
          <a:bodyPr/>
          <a:lstStyle/>
          <a:p>
            <a:r>
              <a:rPr lang="en-IN"/>
              <a:t>19ECE384 / Open Lab ,VI Semester, B.Tech(ECE-A)</a:t>
            </a:r>
          </a:p>
        </p:txBody>
      </p:sp>
      <p:sp>
        <p:nvSpPr>
          <p:cNvPr id="6" name="Slide Number Placeholder 5">
            <a:extLst>
              <a:ext uri="{FF2B5EF4-FFF2-40B4-BE49-F238E27FC236}">
                <a16:creationId xmlns:a16="http://schemas.microsoft.com/office/drawing/2014/main" id="{267DCB14-C4D4-4FD5-A7B3-D9B34C17CBE9}"/>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827620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F80C-2F67-4769-BCBE-608802A51C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CEAE0E-0894-4974-945B-FC9BB29BAF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5D6D16-E773-419D-A356-000A9AC03E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2F269D-8A85-4034-9B71-8E93A08755F1}"/>
              </a:ext>
            </a:extLst>
          </p:cNvPr>
          <p:cNvSpPr>
            <a:spLocks noGrp="1"/>
          </p:cNvSpPr>
          <p:nvPr>
            <p:ph type="dt" sz="half" idx="10"/>
          </p:nvPr>
        </p:nvSpPr>
        <p:spPr/>
        <p:txBody>
          <a:bodyPr/>
          <a:lstStyle/>
          <a:p>
            <a:fld id="{C020FE3F-A6FA-4A29-996B-44F7F529E38D}" type="datetime1">
              <a:rPr lang="en-IN" smtClean="0"/>
              <a:t>16-10-2026</a:t>
            </a:fld>
            <a:endParaRPr lang="en-IN"/>
          </a:p>
        </p:txBody>
      </p:sp>
      <p:sp>
        <p:nvSpPr>
          <p:cNvPr id="6" name="Footer Placeholder 5">
            <a:extLst>
              <a:ext uri="{FF2B5EF4-FFF2-40B4-BE49-F238E27FC236}">
                <a16:creationId xmlns:a16="http://schemas.microsoft.com/office/drawing/2014/main" id="{8ABD72E3-F099-46E8-BF23-20F49E1EFD27}"/>
              </a:ext>
            </a:extLst>
          </p:cNvPr>
          <p:cNvSpPr>
            <a:spLocks noGrp="1"/>
          </p:cNvSpPr>
          <p:nvPr>
            <p:ph type="ftr" sz="quarter" idx="11"/>
          </p:nvPr>
        </p:nvSpPr>
        <p:spPr/>
        <p:txBody>
          <a:bodyPr/>
          <a:lstStyle/>
          <a:p>
            <a:r>
              <a:rPr lang="en-IN"/>
              <a:t>19ECE384 / Open Lab ,VI Semester, B.Tech(ECE-A)</a:t>
            </a:r>
          </a:p>
        </p:txBody>
      </p:sp>
      <p:sp>
        <p:nvSpPr>
          <p:cNvPr id="7" name="Slide Number Placeholder 6">
            <a:extLst>
              <a:ext uri="{FF2B5EF4-FFF2-40B4-BE49-F238E27FC236}">
                <a16:creationId xmlns:a16="http://schemas.microsoft.com/office/drawing/2014/main" id="{81D2CFD4-8D2D-41BB-B8B7-84300D3CA6D1}"/>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177599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4984-0B83-411E-A83F-9614FAE204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7E9CE9-D5CE-4FD3-BA1C-D28184325D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3639E4-B35F-49D8-9012-B1A59FBFC5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96A429-69B8-4E6B-A0E7-6B9A9686E3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EC9ECB-B19D-45B1-94C3-E2B1DAB8B8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B9ADC81-CF37-4C4A-AAEF-18C1063BCB4B}"/>
              </a:ext>
            </a:extLst>
          </p:cNvPr>
          <p:cNvSpPr>
            <a:spLocks noGrp="1"/>
          </p:cNvSpPr>
          <p:nvPr>
            <p:ph type="dt" sz="half" idx="10"/>
          </p:nvPr>
        </p:nvSpPr>
        <p:spPr/>
        <p:txBody>
          <a:bodyPr/>
          <a:lstStyle/>
          <a:p>
            <a:fld id="{F3E2A64B-35FB-448C-8A09-4BDBBC38DCCC}" type="datetime1">
              <a:rPr lang="en-IN" smtClean="0"/>
              <a:t>16-10-2026</a:t>
            </a:fld>
            <a:endParaRPr lang="en-IN"/>
          </a:p>
        </p:txBody>
      </p:sp>
      <p:sp>
        <p:nvSpPr>
          <p:cNvPr id="8" name="Footer Placeholder 7">
            <a:extLst>
              <a:ext uri="{FF2B5EF4-FFF2-40B4-BE49-F238E27FC236}">
                <a16:creationId xmlns:a16="http://schemas.microsoft.com/office/drawing/2014/main" id="{201F48EA-5CEA-4912-BC56-7979EFF80E34}"/>
              </a:ext>
            </a:extLst>
          </p:cNvPr>
          <p:cNvSpPr>
            <a:spLocks noGrp="1"/>
          </p:cNvSpPr>
          <p:nvPr>
            <p:ph type="ftr" sz="quarter" idx="11"/>
          </p:nvPr>
        </p:nvSpPr>
        <p:spPr/>
        <p:txBody>
          <a:bodyPr/>
          <a:lstStyle/>
          <a:p>
            <a:r>
              <a:rPr lang="en-IN"/>
              <a:t>19ECE384 / Open Lab ,VI Semester, B.Tech(ECE-A)</a:t>
            </a:r>
          </a:p>
        </p:txBody>
      </p:sp>
      <p:sp>
        <p:nvSpPr>
          <p:cNvPr id="9" name="Slide Number Placeholder 8">
            <a:extLst>
              <a:ext uri="{FF2B5EF4-FFF2-40B4-BE49-F238E27FC236}">
                <a16:creationId xmlns:a16="http://schemas.microsoft.com/office/drawing/2014/main" id="{0479BCBC-FC86-4688-943F-0095FB5DEFB1}"/>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239281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70710-B482-43F6-A8D3-2EFF221DB6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1A70D0-5211-4EA5-8581-8D2689D21F69}"/>
              </a:ext>
            </a:extLst>
          </p:cNvPr>
          <p:cNvSpPr>
            <a:spLocks noGrp="1"/>
          </p:cNvSpPr>
          <p:nvPr>
            <p:ph type="dt" sz="half" idx="10"/>
          </p:nvPr>
        </p:nvSpPr>
        <p:spPr/>
        <p:txBody>
          <a:bodyPr/>
          <a:lstStyle/>
          <a:p>
            <a:fld id="{7CA6CAB4-A2BF-4F11-BCBB-70DF528AD9CA}" type="datetime1">
              <a:rPr lang="en-IN" smtClean="0"/>
              <a:t>16-10-2026</a:t>
            </a:fld>
            <a:endParaRPr lang="en-IN"/>
          </a:p>
        </p:txBody>
      </p:sp>
      <p:sp>
        <p:nvSpPr>
          <p:cNvPr id="4" name="Footer Placeholder 3">
            <a:extLst>
              <a:ext uri="{FF2B5EF4-FFF2-40B4-BE49-F238E27FC236}">
                <a16:creationId xmlns:a16="http://schemas.microsoft.com/office/drawing/2014/main" id="{65D4B624-D895-4C4C-86CA-1E4FD8ABFDF6}"/>
              </a:ext>
            </a:extLst>
          </p:cNvPr>
          <p:cNvSpPr>
            <a:spLocks noGrp="1"/>
          </p:cNvSpPr>
          <p:nvPr>
            <p:ph type="ftr" sz="quarter" idx="11"/>
          </p:nvPr>
        </p:nvSpPr>
        <p:spPr/>
        <p:txBody>
          <a:bodyPr/>
          <a:lstStyle/>
          <a:p>
            <a:r>
              <a:rPr lang="en-IN"/>
              <a:t>19ECE384 / Open Lab ,VI Semester, B.Tech(ECE-A)</a:t>
            </a:r>
          </a:p>
        </p:txBody>
      </p:sp>
      <p:sp>
        <p:nvSpPr>
          <p:cNvPr id="5" name="Slide Number Placeholder 4">
            <a:extLst>
              <a:ext uri="{FF2B5EF4-FFF2-40B4-BE49-F238E27FC236}">
                <a16:creationId xmlns:a16="http://schemas.microsoft.com/office/drawing/2014/main" id="{CD09DD25-B22F-4256-ADDC-2FAA02F9798F}"/>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2670629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D0B6B-07AB-4FC7-B397-BAD56E4FBBA1}"/>
              </a:ext>
            </a:extLst>
          </p:cNvPr>
          <p:cNvSpPr>
            <a:spLocks noGrp="1"/>
          </p:cNvSpPr>
          <p:nvPr>
            <p:ph type="dt" sz="half" idx="10"/>
          </p:nvPr>
        </p:nvSpPr>
        <p:spPr/>
        <p:txBody>
          <a:bodyPr/>
          <a:lstStyle/>
          <a:p>
            <a:fld id="{C9FA20E2-2F3C-4029-9C1B-44BF9EAB67D8}" type="datetime1">
              <a:rPr lang="en-IN" smtClean="0"/>
              <a:t>16-10-2026</a:t>
            </a:fld>
            <a:endParaRPr lang="en-IN"/>
          </a:p>
        </p:txBody>
      </p:sp>
      <p:sp>
        <p:nvSpPr>
          <p:cNvPr id="3" name="Footer Placeholder 2">
            <a:extLst>
              <a:ext uri="{FF2B5EF4-FFF2-40B4-BE49-F238E27FC236}">
                <a16:creationId xmlns:a16="http://schemas.microsoft.com/office/drawing/2014/main" id="{F6F54296-7A85-437C-A745-13285D1D8A72}"/>
              </a:ext>
            </a:extLst>
          </p:cNvPr>
          <p:cNvSpPr>
            <a:spLocks noGrp="1"/>
          </p:cNvSpPr>
          <p:nvPr>
            <p:ph type="ftr" sz="quarter" idx="11"/>
          </p:nvPr>
        </p:nvSpPr>
        <p:spPr/>
        <p:txBody>
          <a:bodyPr/>
          <a:lstStyle/>
          <a:p>
            <a:r>
              <a:rPr lang="en-IN"/>
              <a:t>19ECE384 / Open Lab ,VI Semester, B.Tech(ECE-A)</a:t>
            </a:r>
          </a:p>
        </p:txBody>
      </p:sp>
      <p:sp>
        <p:nvSpPr>
          <p:cNvPr id="4" name="Slide Number Placeholder 3">
            <a:extLst>
              <a:ext uri="{FF2B5EF4-FFF2-40B4-BE49-F238E27FC236}">
                <a16:creationId xmlns:a16="http://schemas.microsoft.com/office/drawing/2014/main" id="{247321CD-F130-453F-9936-0F1547BC22DE}"/>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168036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ADD-84C2-4C60-9907-0A1ADC938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25668D-B610-4CE5-BCDE-92B56E15C8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8385C4-39E0-4888-81DD-740908D4FD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40A2BF-15D7-4A65-BC4E-EA9847A48F34}"/>
              </a:ext>
            </a:extLst>
          </p:cNvPr>
          <p:cNvSpPr>
            <a:spLocks noGrp="1"/>
          </p:cNvSpPr>
          <p:nvPr>
            <p:ph type="dt" sz="half" idx="10"/>
          </p:nvPr>
        </p:nvSpPr>
        <p:spPr/>
        <p:txBody>
          <a:bodyPr/>
          <a:lstStyle/>
          <a:p>
            <a:fld id="{50BF4726-4ADF-4564-9911-1592716AB2DC}" type="datetime1">
              <a:rPr lang="en-IN" smtClean="0"/>
              <a:t>16-10-2026</a:t>
            </a:fld>
            <a:endParaRPr lang="en-IN"/>
          </a:p>
        </p:txBody>
      </p:sp>
      <p:sp>
        <p:nvSpPr>
          <p:cNvPr id="6" name="Footer Placeholder 5">
            <a:extLst>
              <a:ext uri="{FF2B5EF4-FFF2-40B4-BE49-F238E27FC236}">
                <a16:creationId xmlns:a16="http://schemas.microsoft.com/office/drawing/2014/main" id="{9511DBF1-9A8A-4BD0-88E5-482F6A8ED479}"/>
              </a:ext>
            </a:extLst>
          </p:cNvPr>
          <p:cNvSpPr>
            <a:spLocks noGrp="1"/>
          </p:cNvSpPr>
          <p:nvPr>
            <p:ph type="ftr" sz="quarter" idx="11"/>
          </p:nvPr>
        </p:nvSpPr>
        <p:spPr/>
        <p:txBody>
          <a:bodyPr/>
          <a:lstStyle/>
          <a:p>
            <a:r>
              <a:rPr lang="en-IN"/>
              <a:t>19ECE384 / Open Lab ,VI Semester, B.Tech(ECE-A)</a:t>
            </a:r>
          </a:p>
        </p:txBody>
      </p:sp>
      <p:sp>
        <p:nvSpPr>
          <p:cNvPr id="7" name="Slide Number Placeholder 6">
            <a:extLst>
              <a:ext uri="{FF2B5EF4-FFF2-40B4-BE49-F238E27FC236}">
                <a16:creationId xmlns:a16="http://schemas.microsoft.com/office/drawing/2014/main" id="{61A658D8-ADB5-466E-811F-16934906AC46}"/>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2943453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F1E6-5368-42DE-AC13-B26A1237D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72C9BE-39BB-4D4F-87BF-8DE7202327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34B87A-0352-4291-8D4D-447F35131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46EE98-EEEE-4CA5-B9DF-D0C9EB83F241}"/>
              </a:ext>
            </a:extLst>
          </p:cNvPr>
          <p:cNvSpPr>
            <a:spLocks noGrp="1"/>
          </p:cNvSpPr>
          <p:nvPr>
            <p:ph type="dt" sz="half" idx="10"/>
          </p:nvPr>
        </p:nvSpPr>
        <p:spPr/>
        <p:txBody>
          <a:bodyPr/>
          <a:lstStyle/>
          <a:p>
            <a:fld id="{D826ACBC-8DCD-4450-BB73-FEE3B226D137}" type="datetime1">
              <a:rPr lang="en-IN" smtClean="0"/>
              <a:t>16-10-2026</a:t>
            </a:fld>
            <a:endParaRPr lang="en-IN"/>
          </a:p>
        </p:txBody>
      </p:sp>
      <p:sp>
        <p:nvSpPr>
          <p:cNvPr id="6" name="Footer Placeholder 5">
            <a:extLst>
              <a:ext uri="{FF2B5EF4-FFF2-40B4-BE49-F238E27FC236}">
                <a16:creationId xmlns:a16="http://schemas.microsoft.com/office/drawing/2014/main" id="{0C6EF774-72D2-4EDD-9DFC-FAFE6D2AD27B}"/>
              </a:ext>
            </a:extLst>
          </p:cNvPr>
          <p:cNvSpPr>
            <a:spLocks noGrp="1"/>
          </p:cNvSpPr>
          <p:nvPr>
            <p:ph type="ftr" sz="quarter" idx="11"/>
          </p:nvPr>
        </p:nvSpPr>
        <p:spPr/>
        <p:txBody>
          <a:bodyPr/>
          <a:lstStyle/>
          <a:p>
            <a:r>
              <a:rPr lang="en-IN"/>
              <a:t>19ECE384 / Open Lab ,VI Semester, B.Tech(ECE-A)</a:t>
            </a:r>
          </a:p>
        </p:txBody>
      </p:sp>
      <p:sp>
        <p:nvSpPr>
          <p:cNvPr id="7" name="Slide Number Placeholder 6">
            <a:extLst>
              <a:ext uri="{FF2B5EF4-FFF2-40B4-BE49-F238E27FC236}">
                <a16:creationId xmlns:a16="http://schemas.microsoft.com/office/drawing/2014/main" id="{FC070607-6A5E-42DA-8656-C6AC478B0A47}"/>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1943723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0F1F-56D6-4260-A463-A232EE4BB8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94440B-C5AC-4A33-B620-01E098C9D7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8AC59F-C246-4020-80E0-D0E130C64020}"/>
              </a:ext>
            </a:extLst>
          </p:cNvPr>
          <p:cNvSpPr>
            <a:spLocks noGrp="1"/>
          </p:cNvSpPr>
          <p:nvPr>
            <p:ph type="dt" sz="half" idx="10"/>
          </p:nvPr>
        </p:nvSpPr>
        <p:spPr/>
        <p:txBody>
          <a:bodyPr/>
          <a:lstStyle/>
          <a:p>
            <a:fld id="{CE133B5F-483F-4163-A259-4C97E06EBB42}" type="datetime1">
              <a:rPr lang="en-IN" smtClean="0"/>
              <a:t>16-10-2026</a:t>
            </a:fld>
            <a:endParaRPr lang="en-IN"/>
          </a:p>
        </p:txBody>
      </p:sp>
      <p:sp>
        <p:nvSpPr>
          <p:cNvPr id="5" name="Footer Placeholder 4">
            <a:extLst>
              <a:ext uri="{FF2B5EF4-FFF2-40B4-BE49-F238E27FC236}">
                <a16:creationId xmlns:a16="http://schemas.microsoft.com/office/drawing/2014/main" id="{5F96E34F-9FE7-4CBB-A3F4-3922FF837392}"/>
              </a:ext>
            </a:extLst>
          </p:cNvPr>
          <p:cNvSpPr>
            <a:spLocks noGrp="1"/>
          </p:cNvSpPr>
          <p:nvPr>
            <p:ph type="ftr" sz="quarter" idx="11"/>
          </p:nvPr>
        </p:nvSpPr>
        <p:spPr/>
        <p:txBody>
          <a:bodyPr/>
          <a:lstStyle/>
          <a:p>
            <a:r>
              <a:rPr lang="en-IN"/>
              <a:t>19ECE384 / Open Lab ,VI Semester, B.Tech(ECE-A)</a:t>
            </a:r>
          </a:p>
        </p:txBody>
      </p:sp>
      <p:sp>
        <p:nvSpPr>
          <p:cNvPr id="6" name="Slide Number Placeholder 5">
            <a:extLst>
              <a:ext uri="{FF2B5EF4-FFF2-40B4-BE49-F238E27FC236}">
                <a16:creationId xmlns:a16="http://schemas.microsoft.com/office/drawing/2014/main" id="{293142CB-38B4-42C3-9C83-23C341E82CEE}"/>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1673630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71EF6A-DB8D-44BC-8747-89DD0C8D50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3F41F5-EBD2-4CD5-B3CE-1F6879AD87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BEEAD2-9147-485B-889C-243DC9AF63F1}"/>
              </a:ext>
            </a:extLst>
          </p:cNvPr>
          <p:cNvSpPr>
            <a:spLocks noGrp="1"/>
          </p:cNvSpPr>
          <p:nvPr>
            <p:ph type="dt" sz="half" idx="10"/>
          </p:nvPr>
        </p:nvSpPr>
        <p:spPr/>
        <p:txBody>
          <a:bodyPr/>
          <a:lstStyle/>
          <a:p>
            <a:fld id="{4A1109ED-791C-423D-BBFB-6987EB2D027E}" type="datetime1">
              <a:rPr lang="en-IN" smtClean="0"/>
              <a:t>16-10-2026</a:t>
            </a:fld>
            <a:endParaRPr lang="en-IN"/>
          </a:p>
        </p:txBody>
      </p:sp>
      <p:sp>
        <p:nvSpPr>
          <p:cNvPr id="5" name="Footer Placeholder 4">
            <a:extLst>
              <a:ext uri="{FF2B5EF4-FFF2-40B4-BE49-F238E27FC236}">
                <a16:creationId xmlns:a16="http://schemas.microsoft.com/office/drawing/2014/main" id="{340BACB7-F37E-4C8A-B6F3-04CC1EE925FE}"/>
              </a:ext>
            </a:extLst>
          </p:cNvPr>
          <p:cNvSpPr>
            <a:spLocks noGrp="1"/>
          </p:cNvSpPr>
          <p:nvPr>
            <p:ph type="ftr" sz="quarter" idx="11"/>
          </p:nvPr>
        </p:nvSpPr>
        <p:spPr/>
        <p:txBody>
          <a:bodyPr/>
          <a:lstStyle/>
          <a:p>
            <a:r>
              <a:rPr lang="en-IN"/>
              <a:t>19ECE384 / Open Lab ,VI Semester, B.Tech(ECE-A)</a:t>
            </a:r>
          </a:p>
        </p:txBody>
      </p:sp>
      <p:sp>
        <p:nvSpPr>
          <p:cNvPr id="6" name="Slide Number Placeholder 5">
            <a:extLst>
              <a:ext uri="{FF2B5EF4-FFF2-40B4-BE49-F238E27FC236}">
                <a16:creationId xmlns:a16="http://schemas.microsoft.com/office/drawing/2014/main" id="{85542DFD-48EB-4D81-B255-002B74C09F88}"/>
              </a:ext>
            </a:extLst>
          </p:cNvPr>
          <p:cNvSpPr>
            <a:spLocks noGrp="1"/>
          </p:cNvSpPr>
          <p:nvPr>
            <p:ph type="sldNum" sz="quarter" idx="12"/>
          </p:nvPr>
        </p:nvSpPr>
        <p:spPr/>
        <p:txBody>
          <a:bodyPr/>
          <a:lstStyle/>
          <a:p>
            <a:fld id="{7115A846-9775-409A-9350-EFDC57AD31C5}" type="slidenum">
              <a:rPr lang="en-IN" smtClean="0"/>
              <a:pPr/>
              <a:t>‹#›</a:t>
            </a:fld>
            <a:endParaRPr lang="en-IN"/>
          </a:p>
        </p:txBody>
      </p:sp>
    </p:spTree>
    <p:extLst>
      <p:ext uri="{BB962C8B-B14F-4D97-AF65-F5344CB8AC3E}">
        <p14:creationId xmlns:p14="http://schemas.microsoft.com/office/powerpoint/2010/main" val="2599102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AB2E6-47D1-4216-8720-AB1FFE0AAE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324F62-DC38-415E-B3AB-2B01AA4CF2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D051AB-C3A1-45F6-B771-4AF44069A7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130516-8B63-4993-9207-3685145FC8D3}" type="datetime1">
              <a:rPr lang="en-IN" smtClean="0"/>
              <a:t>16-10-2026</a:t>
            </a:fld>
            <a:endParaRPr lang="en-IN"/>
          </a:p>
        </p:txBody>
      </p:sp>
      <p:sp>
        <p:nvSpPr>
          <p:cNvPr id="5" name="Footer Placeholder 4">
            <a:extLst>
              <a:ext uri="{FF2B5EF4-FFF2-40B4-BE49-F238E27FC236}">
                <a16:creationId xmlns:a16="http://schemas.microsoft.com/office/drawing/2014/main" id="{1CF54AD5-737E-4AFB-BEF7-CD01D62B32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19ECE384 / Open Lab ,VI Semester, B.Tech(ECE-A)</a:t>
            </a:r>
          </a:p>
        </p:txBody>
      </p:sp>
      <p:sp>
        <p:nvSpPr>
          <p:cNvPr id="6" name="Slide Number Placeholder 5">
            <a:extLst>
              <a:ext uri="{FF2B5EF4-FFF2-40B4-BE49-F238E27FC236}">
                <a16:creationId xmlns:a16="http://schemas.microsoft.com/office/drawing/2014/main" id="{857587AB-C7D6-41D6-8038-4903E06505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5A846-9775-409A-9350-EFDC57AD31C5}" type="slidenum">
              <a:rPr lang="en-IN" smtClean="0"/>
              <a:pPr/>
              <a:t>‹#›</a:t>
            </a:fld>
            <a:endParaRPr lang="en-IN"/>
          </a:p>
        </p:txBody>
      </p:sp>
    </p:spTree>
    <p:extLst>
      <p:ext uri="{BB962C8B-B14F-4D97-AF65-F5344CB8AC3E}">
        <p14:creationId xmlns:p14="http://schemas.microsoft.com/office/powerpoint/2010/main" val="2263794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searchgate.net/publication/267695945_Wireless_Charger_Networking_for_Mobile_Devices_Fundamentals_Standards_and_Applications" TargetMode="External"/><Relationship Id="rId2" Type="http://schemas.openxmlformats.org/officeDocument/2006/relationships/hyperlink" Target="https://arxiv.org/pdf/1509.00940.pdf" TargetMode="External"/><Relationship Id="rId1" Type="http://schemas.openxmlformats.org/officeDocument/2006/relationships/slideLayout" Target="../slideLayouts/slideLayout2.xml"/><Relationship Id="rId6" Type="http://schemas.openxmlformats.org/officeDocument/2006/relationships/hyperlink" Target="https://www.instructables.com/DIY-Wireless-Charger/" TargetMode="External"/><Relationship Id="rId5" Type="http://schemas.openxmlformats.org/officeDocument/2006/relationships/hyperlink" Target="https://www.sciencedirect.com/science/article/pii/S2352146521004610" TargetMode="External"/><Relationship Id="rId4" Type="http://schemas.openxmlformats.org/officeDocument/2006/relationships/hyperlink" Target="https://ieeexplore.ieee.org/document/83977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CC15B-96CB-4B4D-9EFE-A616D8244608}"/>
              </a:ext>
            </a:extLst>
          </p:cNvPr>
          <p:cNvSpPr>
            <a:spLocks noGrp="1"/>
          </p:cNvSpPr>
          <p:nvPr>
            <p:ph type="ctrTitle"/>
          </p:nvPr>
        </p:nvSpPr>
        <p:spPr>
          <a:xfrm>
            <a:off x="5216055" y="1494845"/>
            <a:ext cx="5995283" cy="2695492"/>
          </a:xfrm>
        </p:spPr>
        <p:txBody>
          <a:bodyPr/>
          <a:lstStyle/>
          <a:p>
            <a:r>
              <a:rPr lang="en-GB" dirty="0">
                <a:solidFill>
                  <a:schemeClr val="accent1"/>
                </a:solidFill>
                <a:effectLst>
                  <a:glow rad="38100">
                    <a:prstClr val="black">
                      <a:lumMod val="65000"/>
                      <a:lumOff val="35000"/>
                      <a:alpha val="50000"/>
                    </a:prstClr>
                  </a:glow>
                </a:effectLst>
                <a:latin typeface="Times New Roman" panose="02020603050405020304" pitchFamily="18" charset="0"/>
                <a:cs typeface="Times New Roman" panose="02020603050405020304" pitchFamily="18" charset="0"/>
              </a:rPr>
              <a:t>Wireless mobile charger</a:t>
            </a:r>
            <a:endParaRPr lang="en-IN" dirty="0">
              <a:solidFill>
                <a:schemeClr val="accent1"/>
              </a:solidFill>
              <a:effectLst>
                <a:glow rad="38100">
                  <a:prstClr val="black">
                    <a:lumMod val="65000"/>
                    <a:lumOff val="35000"/>
                    <a:alpha val="50000"/>
                  </a:prstClr>
                </a:glow>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9D2689-934B-4AA7-B619-5E2FB8BE2758}"/>
              </a:ext>
            </a:extLst>
          </p:cNvPr>
          <p:cNvPicPr>
            <a:picLocks noChangeAspect="1"/>
          </p:cNvPicPr>
          <p:nvPr/>
        </p:nvPicPr>
        <p:blipFill rotWithShape="1">
          <a:blip r:embed="rId3" cstate="print"/>
          <a:srcRect l="16492" r="12710" b="-1"/>
          <a:stretch/>
        </p:blipFill>
        <p:spPr>
          <a:xfrm>
            <a:off x="539749" y="564543"/>
            <a:ext cx="4564988" cy="5753458"/>
          </a:xfrm>
          <a:prstGeom prst="rect">
            <a:avLst/>
          </a:prstGeom>
        </p:spPr>
      </p:pic>
      <p:sp>
        <p:nvSpPr>
          <p:cNvPr id="8" name="Date Placeholder 7"/>
          <p:cNvSpPr>
            <a:spLocks noGrp="1"/>
          </p:cNvSpPr>
          <p:nvPr>
            <p:ph type="dt" sz="half" idx="10"/>
          </p:nvPr>
        </p:nvSpPr>
        <p:spPr/>
        <p:txBody>
          <a:bodyPr/>
          <a:lstStyle/>
          <a:p>
            <a:fld id="{1AD303D3-7C86-442A-A75D-A00546E29C87}" type="datetime1">
              <a:rPr lang="en-IN" smtClean="0"/>
              <a:t>16-10-2026</a:t>
            </a:fld>
            <a:endParaRPr lang="en-IN"/>
          </a:p>
        </p:txBody>
      </p:sp>
      <p:sp>
        <p:nvSpPr>
          <p:cNvPr id="9" name="Slide Number Placeholder 8"/>
          <p:cNvSpPr>
            <a:spLocks noGrp="1"/>
          </p:cNvSpPr>
          <p:nvPr>
            <p:ph type="sldNum" sz="quarter" idx="12"/>
          </p:nvPr>
        </p:nvSpPr>
        <p:spPr/>
        <p:txBody>
          <a:bodyPr/>
          <a:lstStyle/>
          <a:p>
            <a:fld id="{7115A846-9775-409A-9350-EFDC57AD31C5}" type="slidenum">
              <a:rPr lang="en-IN" smtClean="0"/>
              <a:pPr/>
              <a:t>1</a:t>
            </a:fld>
            <a:endParaRPr lang="en-IN"/>
          </a:p>
        </p:txBody>
      </p:sp>
      <p:sp>
        <p:nvSpPr>
          <p:cNvPr id="10" name="Footer Placeholder 9"/>
          <p:cNvSpPr>
            <a:spLocks noGrp="1"/>
          </p:cNvSpPr>
          <p:nvPr>
            <p:ph type="ftr" sz="quarter" idx="11"/>
          </p:nvPr>
        </p:nvSpPr>
        <p:spPr/>
        <p:txBody>
          <a:bodyPr/>
          <a:lstStyle/>
          <a:p>
            <a:r>
              <a:rPr lang="en-IN"/>
              <a:t>19ECE384 / Open Lab ,VI Semester, B.Tech(ECE-A)</a:t>
            </a:r>
            <a:endParaRPr lang="en-IN" dirty="0"/>
          </a:p>
        </p:txBody>
      </p:sp>
    </p:spTree>
    <p:extLst>
      <p:ext uri="{BB962C8B-B14F-4D97-AF65-F5344CB8AC3E}">
        <p14:creationId xmlns:p14="http://schemas.microsoft.com/office/powerpoint/2010/main" val="922487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70C0"/>
                </a:solidFill>
                <a:latin typeface="Times New Roman" pitchFamily="18" charset="0"/>
                <a:cs typeface="Times New Roman" pitchFamily="18" charset="0"/>
              </a:rPr>
              <a:t>Contents</a:t>
            </a:r>
            <a:endParaRPr lang="en-US"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IN" sz="2400" dirty="0">
                <a:latin typeface="Times New Roman" pitchFamily="18" charset="0"/>
                <a:cs typeface="Times New Roman" pitchFamily="18" charset="0"/>
              </a:rPr>
              <a:t>Motivation</a:t>
            </a:r>
          </a:p>
          <a:p>
            <a:r>
              <a:rPr lang="en-IN" sz="2400" dirty="0">
                <a:latin typeface="Times New Roman" pitchFamily="18" charset="0"/>
                <a:cs typeface="Times New Roman" pitchFamily="18" charset="0"/>
              </a:rPr>
              <a:t>Circuit Diagram</a:t>
            </a:r>
          </a:p>
          <a:p>
            <a:r>
              <a:rPr lang="en-IN" sz="2400" dirty="0">
                <a:latin typeface="Times New Roman" pitchFamily="18" charset="0"/>
                <a:cs typeface="Times New Roman" pitchFamily="18" charset="0"/>
              </a:rPr>
              <a:t>Working Principle</a:t>
            </a:r>
          </a:p>
          <a:p>
            <a:r>
              <a:rPr lang="en-IN" sz="2400" dirty="0">
                <a:latin typeface="Times New Roman" pitchFamily="18" charset="0"/>
                <a:cs typeface="Times New Roman" pitchFamily="18" charset="0"/>
              </a:rPr>
              <a:t>Specifications</a:t>
            </a:r>
          </a:p>
          <a:p>
            <a:r>
              <a:rPr lang="en-IN" sz="2400" dirty="0">
                <a:latin typeface="Times New Roman" pitchFamily="18" charset="0"/>
                <a:cs typeface="Times New Roman" pitchFamily="18" charset="0"/>
              </a:rPr>
              <a:t>Functionality Justification</a:t>
            </a:r>
          </a:p>
          <a:p>
            <a:r>
              <a:rPr lang="en-IN" sz="2400" dirty="0">
                <a:latin typeface="Times New Roman" pitchFamily="18" charset="0"/>
                <a:cs typeface="Times New Roman" pitchFamily="18" charset="0"/>
              </a:rPr>
              <a:t>Results</a:t>
            </a:r>
          </a:p>
          <a:p>
            <a:r>
              <a:rPr lang="en-IN" sz="2400" dirty="0">
                <a:latin typeface="Times New Roman" pitchFamily="18" charset="0"/>
                <a:cs typeface="Times New Roman" pitchFamily="18" charset="0"/>
              </a:rPr>
              <a:t>Challenges </a:t>
            </a:r>
          </a:p>
          <a:p>
            <a:r>
              <a:rPr lang="en-IN" sz="2400" dirty="0">
                <a:latin typeface="Times New Roman" pitchFamily="18" charset="0"/>
                <a:cs typeface="Times New Roman" pitchFamily="18" charset="0"/>
              </a:rPr>
              <a:t>References</a:t>
            </a:r>
          </a:p>
          <a:p>
            <a:endParaRPr lang="en-IN" dirty="0"/>
          </a:p>
          <a:p>
            <a:endParaRPr lang="en-IN" dirty="0"/>
          </a:p>
          <a:p>
            <a:endParaRPr lang="en-IN" dirty="0"/>
          </a:p>
          <a:p>
            <a:endParaRPr lang="en-US" dirty="0"/>
          </a:p>
        </p:txBody>
      </p:sp>
      <p:sp>
        <p:nvSpPr>
          <p:cNvPr id="5" name="Date Placeholder 4"/>
          <p:cNvSpPr>
            <a:spLocks noGrp="1"/>
          </p:cNvSpPr>
          <p:nvPr>
            <p:ph type="dt" sz="half" idx="10"/>
          </p:nvPr>
        </p:nvSpPr>
        <p:spPr/>
        <p:txBody>
          <a:bodyPr/>
          <a:lstStyle/>
          <a:p>
            <a:fld id="{1FB2ECA7-8EEB-4499-89AD-52A2E6840751}" type="datetime1">
              <a:rPr lang="en-IN" smtClean="0"/>
              <a:t>16-10-2026</a:t>
            </a:fld>
            <a:endParaRPr lang="en-IN"/>
          </a:p>
        </p:txBody>
      </p:sp>
      <p:sp>
        <p:nvSpPr>
          <p:cNvPr id="6" name="Slide Number Placeholder 5"/>
          <p:cNvSpPr>
            <a:spLocks noGrp="1"/>
          </p:cNvSpPr>
          <p:nvPr>
            <p:ph type="sldNum" sz="quarter" idx="12"/>
          </p:nvPr>
        </p:nvSpPr>
        <p:spPr/>
        <p:txBody>
          <a:bodyPr/>
          <a:lstStyle/>
          <a:p>
            <a:fld id="{7115A846-9775-409A-9350-EFDC57AD31C5}" type="slidenum">
              <a:rPr lang="en-IN" smtClean="0"/>
              <a:pPr/>
              <a:t>2</a:t>
            </a:fld>
            <a:endParaRPr lang="en-IN"/>
          </a:p>
        </p:txBody>
      </p:sp>
      <p:sp>
        <p:nvSpPr>
          <p:cNvPr id="7" name="Footer Placeholder 6"/>
          <p:cNvSpPr>
            <a:spLocks noGrp="1"/>
          </p:cNvSpPr>
          <p:nvPr>
            <p:ph type="ftr" sz="quarter" idx="11"/>
          </p:nvPr>
        </p:nvSpPr>
        <p:spPr/>
        <p:txBody>
          <a:bodyPr/>
          <a:lstStyle/>
          <a:p>
            <a:r>
              <a:rPr lang="en-IN"/>
              <a:t>19ECE384 / Open Lab ,VI Semester, B.Tech(ECE-A)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925853-24B5-4229-86E3-DCBA6990B5FB}"/>
              </a:ext>
            </a:extLst>
          </p:cNvPr>
          <p:cNvSpPr>
            <a:spLocks noGrp="1"/>
          </p:cNvSpPr>
          <p:nvPr>
            <p:ph idx="1"/>
          </p:nvPr>
        </p:nvSpPr>
        <p:spPr>
          <a:xfrm>
            <a:off x="5183188" y="1319917"/>
            <a:ext cx="6172200" cy="4818490"/>
          </a:xfrm>
        </p:spPr>
        <p:txBody>
          <a:bodyPr>
            <a:normAutofit/>
          </a:bodyPr>
          <a:lstStyle/>
          <a:p>
            <a:pPr marL="0" indent="0" algn="ctr">
              <a:buNone/>
            </a:pPr>
            <a:r>
              <a:rPr lang="en-US" sz="4400" b="1" dirty="0">
                <a:solidFill>
                  <a:schemeClr val="accent1"/>
                </a:solidFill>
                <a:latin typeface="Times New Roman" panose="02020603050405020304" pitchFamily="18" charset="0"/>
                <a:cs typeface="Times New Roman" panose="02020603050405020304" pitchFamily="18" charset="0"/>
              </a:rPr>
              <a:t>Motivation</a:t>
            </a:r>
          </a:p>
          <a:p>
            <a:pPr marL="285750" indent="-285750">
              <a:lnSpc>
                <a:spcPct val="110000"/>
              </a:lnSpc>
            </a:pPr>
            <a:r>
              <a:rPr lang="en-US" sz="2400" dirty="0">
                <a:latin typeface="Times New Roman" pitchFamily="18" charset="0"/>
                <a:ea typeface="+mn-lt"/>
                <a:cs typeface="Times New Roman" pitchFamily="18" charset="0"/>
              </a:rPr>
              <a:t>Charge a mobile  phone battery with no physical connection between transmitting and receiving device</a:t>
            </a:r>
            <a:r>
              <a:rPr lang="en-GB" sz="2400" dirty="0">
                <a:latin typeface="Times New Roman" pitchFamily="18" charset="0"/>
                <a:cs typeface="Times New Roman" pitchFamily="18" charset="0"/>
              </a:rPr>
              <a:t>.</a:t>
            </a:r>
            <a:endParaRPr lang="en-US" sz="2400" dirty="0">
              <a:latin typeface="Times New Roman" pitchFamily="18" charset="0"/>
              <a:ea typeface="+mj-lt"/>
              <a:cs typeface="Times New Roman" pitchFamily="18" charset="0"/>
            </a:endParaRPr>
          </a:p>
          <a:p>
            <a:pPr marL="285750" indent="-285750">
              <a:lnSpc>
                <a:spcPct val="110000"/>
              </a:lnSpc>
              <a:spcBef>
                <a:spcPts val="1000"/>
              </a:spcBef>
              <a:buFont typeface="Arial"/>
              <a:buChar char="•"/>
            </a:pPr>
            <a:r>
              <a:rPr lang="en-GB" sz="2400" dirty="0">
                <a:latin typeface="Times New Roman" pitchFamily="18" charset="0"/>
                <a:cs typeface="Times New Roman" pitchFamily="18" charset="0"/>
              </a:rPr>
              <a:t>This project main objective was to enhance  knowledge and to construct a wireless charging pad for a mobile</a:t>
            </a:r>
            <a:endParaRPr lang="en-IN" sz="2400" dirty="0">
              <a:latin typeface="Times New Roman" pitchFamily="18" charset="0"/>
              <a:cs typeface="Times New Roman" pitchFamily="18" charset="0"/>
            </a:endParaRPr>
          </a:p>
        </p:txBody>
      </p:sp>
      <p:pic>
        <p:nvPicPr>
          <p:cNvPr id="5" name="Graphic 4" descr="Head with Gears">
            <a:extLst>
              <a:ext uri="{FF2B5EF4-FFF2-40B4-BE49-F238E27FC236}">
                <a16:creationId xmlns:a16="http://schemas.microsoft.com/office/drawing/2014/main" id="{F7E87910-C93F-4E78-B81A-CD768667F0D0}"/>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3724" y="987425"/>
            <a:ext cx="4996212" cy="4996212"/>
          </a:xfrm>
          <a:prstGeom prst="rect">
            <a:avLst/>
          </a:prstGeom>
        </p:spPr>
      </p:pic>
      <p:sp>
        <p:nvSpPr>
          <p:cNvPr id="6" name="Date Placeholder 5"/>
          <p:cNvSpPr>
            <a:spLocks noGrp="1"/>
          </p:cNvSpPr>
          <p:nvPr>
            <p:ph type="dt" sz="half" idx="10"/>
          </p:nvPr>
        </p:nvSpPr>
        <p:spPr/>
        <p:txBody>
          <a:bodyPr/>
          <a:lstStyle/>
          <a:p>
            <a:fld id="{86FAEE1A-EF64-4F52-8996-250081A5165A}" type="datetime1">
              <a:rPr lang="en-IN" smtClean="0"/>
              <a:t>16-10-2026</a:t>
            </a:fld>
            <a:endParaRPr lang="en-IN"/>
          </a:p>
        </p:txBody>
      </p:sp>
      <p:sp>
        <p:nvSpPr>
          <p:cNvPr id="8" name="Slide Number Placeholder 7"/>
          <p:cNvSpPr>
            <a:spLocks noGrp="1"/>
          </p:cNvSpPr>
          <p:nvPr>
            <p:ph type="sldNum" sz="quarter" idx="12"/>
          </p:nvPr>
        </p:nvSpPr>
        <p:spPr/>
        <p:txBody>
          <a:bodyPr/>
          <a:lstStyle/>
          <a:p>
            <a:fld id="{7115A846-9775-409A-9350-EFDC57AD31C5}" type="slidenum">
              <a:rPr lang="en-IN" smtClean="0"/>
              <a:pPr/>
              <a:t>3</a:t>
            </a:fld>
            <a:endParaRPr lang="en-IN"/>
          </a:p>
        </p:txBody>
      </p:sp>
      <p:sp>
        <p:nvSpPr>
          <p:cNvPr id="9" name="Footer Placeholder 8"/>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22033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b="1" dirty="0">
                <a:solidFill>
                  <a:schemeClr val="accent1"/>
                </a:solidFill>
                <a:latin typeface="Times New Roman" pitchFamily="18" charset="0"/>
                <a:cs typeface="Times New Roman" pitchFamily="18" charset="0"/>
              </a:rPr>
              <a:t>How does it work?</a:t>
            </a:r>
            <a:endParaRPr lang="en-US" b="1" dirty="0">
              <a:solidFill>
                <a:schemeClr val="accent1"/>
              </a:solidFill>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431370" y="1484784"/>
            <a:ext cx="2692539" cy="1549480"/>
          </a:xfrm>
          <a:prstGeom prst="rect">
            <a:avLst/>
          </a:prstGeom>
          <a:noFill/>
          <a:ln w="9525">
            <a:noFill/>
            <a:miter lim="800000"/>
            <a:headEnd/>
            <a:tailEnd/>
          </a:ln>
          <a:effectLst/>
        </p:spPr>
      </p:pic>
      <p:sp>
        <p:nvSpPr>
          <p:cNvPr id="7" name="TextBox 6"/>
          <p:cNvSpPr txBox="1"/>
          <p:nvPr/>
        </p:nvSpPr>
        <p:spPr>
          <a:xfrm>
            <a:off x="3597491" y="1628800"/>
            <a:ext cx="7957200" cy="1107996"/>
          </a:xfrm>
          <a:prstGeom prst="rect">
            <a:avLst/>
          </a:prstGeom>
          <a:noFill/>
        </p:spPr>
        <p:txBody>
          <a:bodyPr wrap="square" rtlCol="0">
            <a:spAutoFit/>
          </a:bodyPr>
          <a:lstStyle/>
          <a:p>
            <a:pPr algn="just"/>
            <a:r>
              <a:rPr lang="en-IN" sz="2400" dirty="0">
                <a:latin typeface="Times New Roman" pitchFamily="18" charset="0"/>
                <a:cs typeface="Times New Roman" pitchFamily="18" charset="0"/>
              </a:rPr>
              <a:t>Inside your smart phone is a receiver induction coil made of copper.</a:t>
            </a:r>
          </a:p>
          <a:p>
            <a:endParaRPr lang="en-US"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3" cstate="print"/>
          <a:srcRect/>
          <a:stretch>
            <a:fillRect/>
          </a:stretch>
        </p:blipFill>
        <p:spPr bwMode="auto">
          <a:xfrm>
            <a:off x="1007436" y="2996953"/>
            <a:ext cx="2712833" cy="1485775"/>
          </a:xfrm>
          <a:prstGeom prst="rect">
            <a:avLst/>
          </a:prstGeom>
          <a:noFill/>
          <a:ln w="9525">
            <a:noFill/>
            <a:miter lim="800000"/>
            <a:headEnd/>
            <a:tailEnd/>
          </a:ln>
          <a:effectLst/>
        </p:spPr>
      </p:pic>
      <p:sp>
        <p:nvSpPr>
          <p:cNvPr id="9" name="TextBox 8"/>
          <p:cNvSpPr txBox="1"/>
          <p:nvPr/>
        </p:nvSpPr>
        <p:spPr>
          <a:xfrm>
            <a:off x="3669967" y="3473299"/>
            <a:ext cx="6913303" cy="461665"/>
          </a:xfrm>
          <a:prstGeom prst="rect">
            <a:avLst/>
          </a:prstGeom>
          <a:noFill/>
        </p:spPr>
        <p:txBody>
          <a:bodyPr wrap="none" rtlCol="0">
            <a:spAutoFit/>
          </a:bodyPr>
          <a:lstStyle/>
          <a:p>
            <a:pPr algn="just"/>
            <a:r>
              <a:rPr lang="en-IN" sz="2400" dirty="0">
                <a:latin typeface="Times New Roman" pitchFamily="18" charset="0"/>
                <a:cs typeface="Times New Roman" pitchFamily="18" charset="0"/>
              </a:rPr>
              <a:t>The wireless charger contains a copper transmitter coil</a:t>
            </a:r>
            <a:endParaRPr lang="en-US" sz="2400"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4" cstate="print"/>
          <a:srcRect/>
          <a:stretch>
            <a:fillRect/>
          </a:stretch>
        </p:blipFill>
        <p:spPr bwMode="auto">
          <a:xfrm>
            <a:off x="815413" y="4941168"/>
            <a:ext cx="2768131" cy="1424434"/>
          </a:xfrm>
          <a:prstGeom prst="rect">
            <a:avLst/>
          </a:prstGeom>
          <a:noFill/>
          <a:ln w="9525">
            <a:noFill/>
            <a:miter lim="800000"/>
            <a:headEnd/>
            <a:tailEnd/>
          </a:ln>
          <a:effectLst/>
        </p:spPr>
      </p:pic>
      <p:sp>
        <p:nvSpPr>
          <p:cNvPr id="11" name="TextBox 10"/>
          <p:cNvSpPr txBox="1"/>
          <p:nvPr/>
        </p:nvSpPr>
        <p:spPr>
          <a:xfrm>
            <a:off x="3695732" y="4653137"/>
            <a:ext cx="7861267" cy="2123658"/>
          </a:xfrm>
          <a:prstGeom prst="rect">
            <a:avLst/>
          </a:prstGeom>
          <a:noFill/>
        </p:spPr>
        <p:txBody>
          <a:bodyPr wrap="square" rtlCol="0">
            <a:spAutoFit/>
          </a:bodyPr>
          <a:lstStyle/>
          <a:p>
            <a:pPr algn="just" fontAlgn="base"/>
            <a:r>
              <a:rPr lang="en-IN" sz="2400" dirty="0">
                <a:latin typeface="Times New Roman" pitchFamily="18" charset="0"/>
                <a:cs typeface="Times New Roman" pitchFamily="18" charset="0"/>
              </a:rPr>
              <a:t>When you place your phone on the charger, the transmitter coil generates an electromagnetic field that the receiver converts to electricity for the phone battery. This process is known as electromagnetic induction.</a:t>
            </a:r>
          </a:p>
          <a:p>
            <a:br>
              <a:rPr lang="en-IN" dirty="0"/>
            </a:br>
            <a:endParaRPr lang="en-US" dirty="0"/>
          </a:p>
        </p:txBody>
      </p:sp>
      <p:sp>
        <p:nvSpPr>
          <p:cNvPr id="12" name="Date Placeholder 11"/>
          <p:cNvSpPr>
            <a:spLocks noGrp="1"/>
          </p:cNvSpPr>
          <p:nvPr>
            <p:ph type="dt" sz="half" idx="10"/>
          </p:nvPr>
        </p:nvSpPr>
        <p:spPr/>
        <p:txBody>
          <a:bodyPr/>
          <a:lstStyle/>
          <a:p>
            <a:fld id="{5ABB21DC-5122-49D7-89A7-A3A8589012CE}" type="datetime1">
              <a:rPr lang="en-IN" smtClean="0"/>
              <a:t>16-10-2026</a:t>
            </a:fld>
            <a:endParaRPr lang="en-IN"/>
          </a:p>
        </p:txBody>
      </p:sp>
      <p:sp>
        <p:nvSpPr>
          <p:cNvPr id="13" name="Slide Number Placeholder 12"/>
          <p:cNvSpPr>
            <a:spLocks noGrp="1"/>
          </p:cNvSpPr>
          <p:nvPr>
            <p:ph type="sldNum" sz="quarter" idx="12"/>
          </p:nvPr>
        </p:nvSpPr>
        <p:spPr/>
        <p:txBody>
          <a:bodyPr/>
          <a:lstStyle/>
          <a:p>
            <a:fld id="{7115A846-9775-409A-9350-EFDC57AD31C5}" type="slidenum">
              <a:rPr lang="en-IN" smtClean="0"/>
              <a:pPr/>
              <a:t>4</a:t>
            </a:fld>
            <a:endParaRPr lang="en-IN"/>
          </a:p>
        </p:txBody>
      </p:sp>
      <p:sp>
        <p:nvSpPr>
          <p:cNvPr id="14" name="Footer Placeholder 13"/>
          <p:cNvSpPr>
            <a:spLocks noGrp="1"/>
          </p:cNvSpPr>
          <p:nvPr>
            <p:ph type="ftr" sz="quarter" idx="11"/>
          </p:nvPr>
        </p:nvSpPr>
        <p:spPr/>
        <p:txBody>
          <a:bodyPr/>
          <a:lstStyle/>
          <a:p>
            <a:r>
              <a:rPr lang="en-IN"/>
              <a:t>19ECE384 / Open Lab ,VI Semester, B.Tech(ECE-A)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6" y="365125"/>
            <a:ext cx="11122794" cy="1325563"/>
          </a:xfrm>
        </p:spPr>
        <p:txBody>
          <a:bodyPr/>
          <a:lstStyle/>
          <a:p>
            <a:r>
              <a:rPr lang="en-IN" b="1" dirty="0">
                <a:solidFill>
                  <a:schemeClr val="accent1"/>
                </a:solidFill>
                <a:latin typeface="Times New Roman" pitchFamily="18" charset="0"/>
                <a:cs typeface="Times New Roman" pitchFamily="18" charset="0"/>
              </a:rPr>
              <a:t>Inside view of Mobile for charge</a:t>
            </a:r>
            <a:endParaRPr lang="en-US" b="1" dirty="0">
              <a:solidFill>
                <a:schemeClr val="accent1"/>
              </a:solidFill>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2243667" y="1825625"/>
            <a:ext cx="6773333" cy="4482042"/>
          </a:xfrm>
          <a:prstGeom prst="rect">
            <a:avLst/>
          </a:prstGeom>
          <a:noFill/>
          <a:ln w="9525">
            <a:noFill/>
            <a:miter lim="800000"/>
            <a:headEnd/>
            <a:tailEnd/>
          </a:ln>
          <a:effectLst/>
        </p:spPr>
      </p:pic>
      <p:sp>
        <p:nvSpPr>
          <p:cNvPr id="6" name="Date Placeholder 5"/>
          <p:cNvSpPr>
            <a:spLocks noGrp="1"/>
          </p:cNvSpPr>
          <p:nvPr>
            <p:ph type="dt" sz="half" idx="10"/>
          </p:nvPr>
        </p:nvSpPr>
        <p:spPr/>
        <p:txBody>
          <a:bodyPr/>
          <a:lstStyle/>
          <a:p>
            <a:fld id="{56B04643-7146-489C-87C3-BBF9E621D343}"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5</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19C675-C45B-11C7-B07E-92046EED5C8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88682" y="1549667"/>
            <a:ext cx="6890493" cy="4815198"/>
          </a:xfrm>
        </p:spPr>
      </p:pic>
      <p:sp>
        <p:nvSpPr>
          <p:cNvPr id="3" name="Date Placeholder 2"/>
          <p:cNvSpPr>
            <a:spLocks noGrp="1"/>
          </p:cNvSpPr>
          <p:nvPr>
            <p:ph type="dt" sz="half" idx="10"/>
          </p:nvPr>
        </p:nvSpPr>
        <p:spPr/>
        <p:txBody>
          <a:bodyPr/>
          <a:lstStyle/>
          <a:p>
            <a:fld id="{487297AE-EF72-4211-8537-4E0786A19571}" type="datetime1">
              <a:rPr lang="en-IN" smtClean="0"/>
              <a:t>16-10-2026</a:t>
            </a:fld>
            <a:endParaRPr lang="en-IN"/>
          </a:p>
        </p:txBody>
      </p:sp>
      <p:sp>
        <p:nvSpPr>
          <p:cNvPr id="4" name="Slide Number Placeholder 3"/>
          <p:cNvSpPr>
            <a:spLocks noGrp="1"/>
          </p:cNvSpPr>
          <p:nvPr>
            <p:ph type="sldNum" sz="quarter" idx="12"/>
          </p:nvPr>
        </p:nvSpPr>
        <p:spPr/>
        <p:txBody>
          <a:bodyPr/>
          <a:lstStyle/>
          <a:p>
            <a:fld id="{7115A846-9775-409A-9350-EFDC57AD31C5}" type="slidenum">
              <a:rPr lang="en-IN" smtClean="0"/>
              <a:pPr/>
              <a:t>6</a:t>
            </a:fld>
            <a:endParaRPr lang="en-IN"/>
          </a:p>
        </p:txBody>
      </p:sp>
      <p:sp>
        <p:nvSpPr>
          <p:cNvPr id="6" name="Footer Placeholder 5"/>
          <p:cNvSpPr>
            <a:spLocks noGrp="1"/>
          </p:cNvSpPr>
          <p:nvPr>
            <p:ph type="ftr" sz="quarter" idx="11"/>
          </p:nvPr>
        </p:nvSpPr>
        <p:spPr/>
        <p:txBody>
          <a:bodyPr/>
          <a:lstStyle/>
          <a:p>
            <a:r>
              <a:rPr lang="en-IN"/>
              <a:t>19ECE384 / Open Lab ,VI Semester, B.Tech(ECE-A)</a:t>
            </a:r>
          </a:p>
        </p:txBody>
      </p:sp>
      <p:sp>
        <p:nvSpPr>
          <p:cNvPr id="7" name="TextBox 6"/>
          <p:cNvSpPr txBox="1"/>
          <p:nvPr/>
        </p:nvSpPr>
        <p:spPr>
          <a:xfrm>
            <a:off x="134754" y="712269"/>
            <a:ext cx="8874492" cy="769441"/>
          </a:xfrm>
          <a:prstGeom prst="rect">
            <a:avLst/>
          </a:prstGeom>
          <a:noFill/>
        </p:spPr>
        <p:txBody>
          <a:bodyPr wrap="square" rtlCol="0">
            <a:spAutoFit/>
          </a:bodyPr>
          <a:lstStyle/>
          <a:p>
            <a:r>
              <a:rPr lang="en-IN" sz="4400" b="1" dirty="0">
                <a:solidFill>
                  <a:srgbClr val="0070C0"/>
                </a:solidFill>
                <a:latin typeface="Times New Roman" pitchFamily="18" charset="0"/>
                <a:cs typeface="Times New Roman" pitchFamily="18" charset="0"/>
              </a:rPr>
              <a:t>Circuit Connections on Breadboard</a:t>
            </a:r>
            <a:endParaRPr lang="en-US" sz="4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378701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6FD2-A584-4471-A269-034224A249B4}"/>
              </a:ext>
            </a:extLst>
          </p:cNvPr>
          <p:cNvSpPr>
            <a:spLocks noGrp="1"/>
          </p:cNvSpPr>
          <p:nvPr>
            <p:ph type="title"/>
          </p:nvPr>
        </p:nvSpPr>
        <p:spPr/>
        <p:txBody>
          <a:bodyPr/>
          <a:lstStyle/>
          <a:p>
            <a:r>
              <a:rPr lang="en-IN" b="1" dirty="0">
                <a:solidFill>
                  <a:schemeClr val="accent1"/>
                </a:solidFill>
                <a:latin typeface="Times New Roman" pitchFamily="18" charset="0"/>
                <a:cs typeface="Times New Roman" pitchFamily="18" charset="0"/>
              </a:rPr>
              <a:t>Circuit diagram</a:t>
            </a:r>
          </a:p>
        </p:txBody>
      </p:sp>
      <p:pic>
        <p:nvPicPr>
          <p:cNvPr id="7" name="Content Placeholder 6" descr="WhatsApp Image 2022-06-08 at 8.52.11 PM.jpeg"/>
          <p:cNvPicPr>
            <a:picLocks noGrp="1" noChangeAspect="1"/>
          </p:cNvPicPr>
          <p:nvPr>
            <p:ph idx="1"/>
          </p:nvPr>
        </p:nvPicPr>
        <p:blipFill>
          <a:blip r:embed="rId2" cstate="print">
            <a:lum contrast="40000"/>
          </a:blip>
          <a:stretch>
            <a:fillRect/>
          </a:stretch>
        </p:blipFill>
        <p:spPr>
          <a:xfrm>
            <a:off x="751948" y="1964267"/>
            <a:ext cx="10601851" cy="40411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3157086" y="5669280"/>
            <a:ext cx="1693925" cy="369332"/>
          </a:xfrm>
          <a:prstGeom prst="rect">
            <a:avLst/>
          </a:prstGeom>
          <a:noFill/>
        </p:spPr>
        <p:txBody>
          <a:bodyPr wrap="none" rtlCol="0">
            <a:spAutoFit/>
          </a:bodyPr>
          <a:lstStyle/>
          <a:p>
            <a:r>
              <a:rPr lang="en-IN" dirty="0"/>
              <a:t>Transmitter side</a:t>
            </a:r>
            <a:endParaRPr lang="en-US" dirty="0"/>
          </a:p>
        </p:txBody>
      </p:sp>
      <p:sp>
        <p:nvSpPr>
          <p:cNvPr id="9" name="TextBox 8"/>
          <p:cNvSpPr txBox="1"/>
          <p:nvPr/>
        </p:nvSpPr>
        <p:spPr>
          <a:xfrm>
            <a:off x="6824312" y="5611528"/>
            <a:ext cx="1417504" cy="369332"/>
          </a:xfrm>
          <a:prstGeom prst="rect">
            <a:avLst/>
          </a:prstGeom>
          <a:noFill/>
        </p:spPr>
        <p:txBody>
          <a:bodyPr wrap="none" rtlCol="0">
            <a:spAutoFit/>
          </a:bodyPr>
          <a:lstStyle/>
          <a:p>
            <a:r>
              <a:rPr lang="en-IN" dirty="0"/>
              <a:t>Receiver side</a:t>
            </a:r>
            <a:endParaRPr lang="en-US" dirty="0"/>
          </a:p>
        </p:txBody>
      </p:sp>
      <p:sp>
        <p:nvSpPr>
          <p:cNvPr id="10" name="Date Placeholder 9"/>
          <p:cNvSpPr>
            <a:spLocks noGrp="1"/>
          </p:cNvSpPr>
          <p:nvPr>
            <p:ph type="dt" sz="half" idx="10"/>
          </p:nvPr>
        </p:nvSpPr>
        <p:spPr/>
        <p:txBody>
          <a:bodyPr/>
          <a:lstStyle/>
          <a:p>
            <a:fld id="{7CEB28A3-6F12-4975-BBED-588FB40D0CB0}" type="datetime1">
              <a:rPr lang="en-IN" smtClean="0"/>
              <a:t>16-10-2026</a:t>
            </a:fld>
            <a:endParaRPr lang="en-IN"/>
          </a:p>
        </p:txBody>
      </p:sp>
      <p:sp>
        <p:nvSpPr>
          <p:cNvPr id="11" name="Slide Number Placeholder 10"/>
          <p:cNvSpPr>
            <a:spLocks noGrp="1"/>
          </p:cNvSpPr>
          <p:nvPr>
            <p:ph type="sldNum" sz="quarter" idx="12"/>
          </p:nvPr>
        </p:nvSpPr>
        <p:spPr/>
        <p:txBody>
          <a:bodyPr/>
          <a:lstStyle/>
          <a:p>
            <a:fld id="{7115A846-9775-409A-9350-EFDC57AD31C5}" type="slidenum">
              <a:rPr lang="en-IN" smtClean="0"/>
              <a:pPr/>
              <a:t>7</a:t>
            </a:fld>
            <a:endParaRPr lang="en-IN"/>
          </a:p>
        </p:txBody>
      </p:sp>
      <p:sp>
        <p:nvSpPr>
          <p:cNvPr id="12" name="Footer Placeholder 11"/>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3565825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D5EC8-47D4-43E9-B4E0-82B70C7B3BE9}"/>
              </a:ext>
            </a:extLst>
          </p:cNvPr>
          <p:cNvSpPr>
            <a:spLocks noGrp="1"/>
          </p:cNvSpPr>
          <p:nvPr>
            <p:ph type="title"/>
          </p:nvPr>
        </p:nvSpPr>
        <p:spPr>
          <a:xfrm>
            <a:off x="631466" y="412833"/>
            <a:ext cx="10515600" cy="1325563"/>
          </a:xfrm>
        </p:spPr>
        <p:txBody>
          <a:bodyPr/>
          <a:lstStyle/>
          <a:p>
            <a:r>
              <a:rPr lang="en-GB" b="1" dirty="0">
                <a:solidFill>
                  <a:srgbClr val="0070C0"/>
                </a:solidFill>
                <a:latin typeface="Times New Roman" panose="02020603050405020304" pitchFamily="18" charset="0"/>
                <a:ea typeface="+mj-lt"/>
                <a:cs typeface="Times New Roman" panose="02020603050405020304" pitchFamily="18" charset="0"/>
              </a:rPr>
              <a:t>Working Principle</a:t>
            </a:r>
            <a:endParaRPr lang="en-IN"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227C96C-96D7-4A13-91A2-EDC04BAEA941}"/>
              </a:ext>
            </a:extLst>
          </p:cNvPr>
          <p:cNvSpPr>
            <a:spLocks noGrp="1"/>
          </p:cNvSpPr>
          <p:nvPr>
            <p:ph idx="1"/>
          </p:nvPr>
        </p:nvSpPr>
        <p:spPr/>
        <p:txBody>
          <a:bodyPr>
            <a:normAutofit/>
          </a:bodyPr>
          <a:lstStyle/>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Power is transferred from transmitter to the receiver wirelessly based on the principle of “Inductive </a:t>
            </a:r>
            <a:r>
              <a:rPr lang="en-GB" sz="2400" dirty="0">
                <a:latin typeface="Times New Roman" panose="02020603050405020304" pitchFamily="18" charset="0"/>
                <a:cs typeface="Times New Roman" panose="02020603050405020304" pitchFamily="18" charset="0"/>
              </a:rPr>
              <a:t>C</a:t>
            </a:r>
            <a:r>
              <a:rPr lang="en-GB" sz="2400" dirty="0">
                <a:solidFill>
                  <a:schemeClr val="tx1"/>
                </a:solidFill>
                <a:latin typeface="Times New Roman" panose="02020603050405020304" pitchFamily="18" charset="0"/>
                <a:cs typeface="Times New Roman" panose="02020603050405020304" pitchFamily="18" charset="0"/>
              </a:rPr>
              <a:t>oupling"</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This is because, as the current is flowing in the conductor, a magnetic flux is induced in it.</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This induced magnetic flux links with another conductor and this flux induces voltage in the second conductor</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Thus two conductors are said to be inductively coupled.</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0" indent="0">
              <a:buNone/>
            </a:pPr>
            <a:endParaRPr lang="en-IN" dirty="0"/>
          </a:p>
        </p:txBody>
      </p:sp>
      <p:sp>
        <p:nvSpPr>
          <p:cNvPr id="6" name="Date Placeholder 5"/>
          <p:cNvSpPr>
            <a:spLocks noGrp="1"/>
          </p:cNvSpPr>
          <p:nvPr>
            <p:ph type="dt" sz="half" idx="10"/>
          </p:nvPr>
        </p:nvSpPr>
        <p:spPr/>
        <p:txBody>
          <a:bodyPr/>
          <a:lstStyle/>
          <a:p>
            <a:fld id="{5D4F03AA-09EF-4742-BA5C-9271AD4B2AD7}"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8</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1174868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9FE781DF-F969-4350-A984-F2FB33017BC9}"/>
              </a:ext>
            </a:extLst>
          </p:cNvPr>
          <p:cNvPicPr>
            <a:picLocks noGrp="1" noChangeAspect="1"/>
          </p:cNvPicPr>
          <p:nvPr>
            <p:ph idx="1"/>
          </p:nvPr>
        </p:nvPicPr>
        <p:blipFill rotWithShape="1">
          <a:blip r:embed="rId2" cstate="print"/>
          <a:srcRect t="9580" b="778"/>
          <a:stretch/>
        </p:blipFill>
        <p:spPr>
          <a:xfrm>
            <a:off x="506745" y="1151975"/>
            <a:ext cx="11178509" cy="5128745"/>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5" name="Date Placeholder 4"/>
          <p:cNvSpPr>
            <a:spLocks noGrp="1"/>
          </p:cNvSpPr>
          <p:nvPr>
            <p:ph type="dt" sz="half" idx="10"/>
          </p:nvPr>
        </p:nvSpPr>
        <p:spPr/>
        <p:txBody>
          <a:bodyPr/>
          <a:lstStyle/>
          <a:p>
            <a:fld id="{4C57D45F-D3EE-4D24-93AC-23D6ED650CE6}"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9</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
        <p:nvSpPr>
          <p:cNvPr id="10" name="TextBox 9"/>
          <p:cNvSpPr txBox="1"/>
          <p:nvPr/>
        </p:nvSpPr>
        <p:spPr>
          <a:xfrm>
            <a:off x="1117600" y="258618"/>
            <a:ext cx="6471323" cy="769441"/>
          </a:xfrm>
          <a:prstGeom prst="rect">
            <a:avLst/>
          </a:prstGeom>
          <a:noFill/>
        </p:spPr>
        <p:txBody>
          <a:bodyPr wrap="none" rtlCol="0">
            <a:spAutoFit/>
          </a:bodyPr>
          <a:lstStyle/>
          <a:p>
            <a:r>
              <a:rPr lang="en-IN" sz="4400" b="1" dirty="0">
                <a:solidFill>
                  <a:srgbClr val="0070C0"/>
                </a:solidFill>
                <a:latin typeface="Times New Roman" pitchFamily="18" charset="0"/>
                <a:cs typeface="Times New Roman" pitchFamily="18" charset="0"/>
              </a:rPr>
              <a:t> Power Transfer Diagram </a:t>
            </a:r>
            <a:endParaRPr lang="en-US" sz="4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2507695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A00219-B52F-4CDC-A128-4F2CB4F6477A}"/>
              </a:ext>
            </a:extLst>
          </p:cNvPr>
          <p:cNvSpPr>
            <a:spLocks noGrp="1"/>
          </p:cNvSpPr>
          <p:nvPr>
            <p:ph idx="1"/>
          </p:nvPr>
        </p:nvSpPr>
        <p:spPr>
          <a:xfrm>
            <a:off x="4206240" y="1216549"/>
            <a:ext cx="7149148" cy="5033175"/>
          </a:xfrm>
        </p:spPr>
        <p:txBody>
          <a:bodyPr>
            <a:normAutofit fontScale="32500" lnSpcReduction="20000"/>
          </a:bodyPr>
          <a:lstStyle/>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MOSFET -IRF244 (NPN Transistor)</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Diodes - IN4007</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Capacitor – </a:t>
            </a:r>
            <a:r>
              <a:rPr lang="en-GB" sz="4300" dirty="0">
                <a:latin typeface="Times New Roman" panose="02020603050405020304" pitchFamily="18" charset="0"/>
                <a:ea typeface="+mn-lt"/>
                <a:cs typeface="Times New Roman" panose="02020603050405020304" pitchFamily="18" charset="0"/>
              </a:rPr>
              <a:t>0.001</a:t>
            </a:r>
            <a:r>
              <a:rPr lang="en-GB" sz="4300" dirty="0">
                <a:solidFill>
                  <a:schemeClr val="tx1"/>
                </a:solidFill>
                <a:latin typeface="Times New Roman" panose="02020603050405020304" pitchFamily="18" charset="0"/>
                <a:ea typeface="+mn-lt"/>
                <a:cs typeface="Times New Roman" panose="02020603050405020304" pitchFamily="18" charset="0"/>
              </a:rPr>
              <a:t>µF,</a:t>
            </a:r>
            <a:r>
              <a:rPr lang="en-GB" sz="4300" dirty="0">
                <a:latin typeface="Times New Roman" panose="02020603050405020304" pitchFamily="18" charset="0"/>
                <a:ea typeface="+mn-lt"/>
                <a:cs typeface="Times New Roman" panose="02020603050405020304" pitchFamily="18" charset="0"/>
              </a:rPr>
              <a:t> 1000µF, 0.001µF, 100 µF</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Resistors-1Kohm,10Kohm,10ohm</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Voltage regulator - 7805IC</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Battery-5v (DC Input)</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Copper wires</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555 timer </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Connecting wires </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LED</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Bread board – 2(Transmitter ,Receiver side)</a:t>
            </a:r>
            <a:endParaRPr lang="en-US" sz="43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4300" dirty="0">
                <a:solidFill>
                  <a:schemeClr val="tx1"/>
                </a:solidFill>
                <a:latin typeface="Times New Roman" panose="02020603050405020304" pitchFamily="18" charset="0"/>
                <a:ea typeface="+mn-lt"/>
                <a:cs typeface="Times New Roman" panose="02020603050405020304" pitchFamily="18" charset="0"/>
              </a:rPr>
              <a:t>Mobile </a:t>
            </a:r>
          </a:p>
          <a:p>
            <a:pPr marL="359410" indent="-359410">
              <a:lnSpc>
                <a:spcPct val="140000"/>
              </a:lnSpc>
            </a:pPr>
            <a:r>
              <a:rPr lang="en-GB" sz="4300" dirty="0">
                <a:latin typeface="Times New Roman" panose="02020603050405020304" pitchFamily="18" charset="0"/>
                <a:ea typeface="+mn-lt"/>
                <a:cs typeface="Times New Roman" panose="02020603050405020304" pitchFamily="18" charset="0"/>
              </a:rPr>
              <a:t>USB port</a:t>
            </a:r>
            <a:endParaRPr lang="en-US" sz="4300" dirty="0">
              <a:solidFill>
                <a:schemeClr val="tx1"/>
              </a:solidFill>
              <a:latin typeface="Times New Roman" panose="02020603050405020304" pitchFamily="18" charset="0"/>
              <a:ea typeface="+mn-lt"/>
              <a:cs typeface="Times New Roman" panose="02020603050405020304" pitchFamily="18" charset="0"/>
            </a:endParaRPr>
          </a:p>
        </p:txBody>
      </p:sp>
      <p:pic>
        <p:nvPicPr>
          <p:cNvPr id="5" name="Picture 4" descr="Electronics protoboard">
            <a:extLst>
              <a:ext uri="{FF2B5EF4-FFF2-40B4-BE49-F238E27FC236}">
                <a16:creationId xmlns:a16="http://schemas.microsoft.com/office/drawing/2014/main" id="{6D5F4538-53D0-4A12-A235-27E2FBF32453}"/>
              </a:ext>
            </a:extLst>
          </p:cNvPr>
          <p:cNvPicPr>
            <a:picLocks noChangeAspect="1"/>
          </p:cNvPicPr>
          <p:nvPr/>
        </p:nvPicPr>
        <p:blipFill rotWithShape="1">
          <a:blip r:embed="rId2" cstate="print"/>
          <a:srcRect l="13840" r="48551" b="-1"/>
          <a:stretch/>
        </p:blipFill>
        <p:spPr>
          <a:xfrm>
            <a:off x="0" y="-4758"/>
            <a:ext cx="3863955" cy="6857989"/>
          </a:xfrm>
          <a:prstGeom prst="rect">
            <a:avLst/>
          </a:prstGeom>
        </p:spPr>
      </p:pic>
      <p:sp>
        <p:nvSpPr>
          <p:cNvPr id="6" name="TextBox 5">
            <a:extLst>
              <a:ext uri="{FF2B5EF4-FFF2-40B4-BE49-F238E27FC236}">
                <a16:creationId xmlns:a16="http://schemas.microsoft.com/office/drawing/2014/main" id="{2A3A62B4-B397-4623-A82B-5CAA0EE0B7C3}"/>
              </a:ext>
            </a:extLst>
          </p:cNvPr>
          <p:cNvSpPr txBox="1"/>
          <p:nvPr/>
        </p:nvSpPr>
        <p:spPr>
          <a:xfrm>
            <a:off x="4287278" y="465272"/>
            <a:ext cx="3600575" cy="769441"/>
          </a:xfrm>
          <a:prstGeom prst="rect">
            <a:avLst/>
          </a:prstGeom>
          <a:noFill/>
        </p:spPr>
        <p:txBody>
          <a:bodyPr wrap="square" rtlCol="0">
            <a:spAutoFit/>
          </a:bodyPr>
          <a:lstStyle/>
          <a:p>
            <a:r>
              <a:rPr lang="en-GB" sz="4400" b="1" dirty="0">
                <a:solidFill>
                  <a:schemeClr val="accent1"/>
                </a:solidFill>
                <a:latin typeface="Times New Roman" panose="02020603050405020304" pitchFamily="18" charset="0"/>
                <a:ea typeface="+mj-lt"/>
                <a:cs typeface="Times New Roman" panose="02020603050405020304" pitchFamily="18" charset="0"/>
              </a:rPr>
              <a:t>Specifications</a:t>
            </a:r>
            <a:endParaRPr lang="en-IN" sz="4400" b="1" dirty="0">
              <a:solidFill>
                <a:schemeClr val="accent1"/>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97CBD3C-6DA3-4BDD-8A24-54C31CAB930D}" type="datetime1">
              <a:rPr lang="en-IN" smtClean="0"/>
              <a:t>16-10-2026</a:t>
            </a:fld>
            <a:endParaRPr lang="en-IN"/>
          </a:p>
        </p:txBody>
      </p:sp>
      <p:sp>
        <p:nvSpPr>
          <p:cNvPr id="9" name="Slide Number Placeholder 8"/>
          <p:cNvSpPr>
            <a:spLocks noGrp="1"/>
          </p:cNvSpPr>
          <p:nvPr>
            <p:ph type="sldNum" sz="quarter" idx="12"/>
          </p:nvPr>
        </p:nvSpPr>
        <p:spPr/>
        <p:txBody>
          <a:bodyPr/>
          <a:lstStyle/>
          <a:p>
            <a:fld id="{7115A846-9775-409A-9350-EFDC57AD31C5}" type="slidenum">
              <a:rPr lang="en-IN" smtClean="0"/>
              <a:pPr/>
              <a:t>10</a:t>
            </a:fld>
            <a:endParaRPr lang="en-IN"/>
          </a:p>
        </p:txBody>
      </p:sp>
      <p:sp>
        <p:nvSpPr>
          <p:cNvPr id="10" name="Footer Placeholder 9"/>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3002121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40C91-9C65-494A-B3A8-DC88F25E295A}"/>
              </a:ext>
            </a:extLst>
          </p:cNvPr>
          <p:cNvSpPr>
            <a:spLocks noGrp="1"/>
          </p:cNvSpPr>
          <p:nvPr>
            <p:ph type="title"/>
          </p:nvPr>
        </p:nvSpPr>
        <p:spPr>
          <a:xfrm>
            <a:off x="357909" y="152689"/>
            <a:ext cx="10515600" cy="1325563"/>
          </a:xfrm>
        </p:spPr>
        <p:txBody>
          <a:bodyPr/>
          <a:lstStyle/>
          <a:p>
            <a:r>
              <a:rPr lang="en-GB" b="1" dirty="0">
                <a:solidFill>
                  <a:schemeClr val="accent1"/>
                </a:solidFill>
                <a:latin typeface="Times New Roman" panose="02020603050405020304" pitchFamily="18" charset="0"/>
                <a:ea typeface="+mj-lt"/>
                <a:cs typeface="Times New Roman" panose="02020603050405020304" pitchFamily="18" charset="0"/>
              </a:rPr>
              <a:t>Justification of the rating</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C6CD5A-17C2-410C-94FD-BDD1D6222131}"/>
              </a:ext>
            </a:extLst>
          </p:cNvPr>
          <p:cNvSpPr>
            <a:spLocks noGrp="1"/>
          </p:cNvSpPr>
          <p:nvPr>
            <p:ph idx="1"/>
          </p:nvPr>
        </p:nvSpPr>
        <p:spPr>
          <a:xfrm>
            <a:off x="422564" y="1336098"/>
            <a:ext cx="10515600" cy="4351338"/>
          </a:xfrm>
        </p:spPr>
        <p:txBody>
          <a:bodyPr>
            <a:normAutofit fontScale="55000" lnSpcReduction="20000"/>
          </a:bodyPr>
          <a:lstStyle/>
          <a:p>
            <a:pPr marL="359410" indent="-359410">
              <a:lnSpc>
                <a:spcPct val="110000"/>
              </a:lnSpc>
            </a:pPr>
            <a:r>
              <a:rPr lang="en-GB" sz="4400" b="1" dirty="0" err="1">
                <a:solidFill>
                  <a:schemeClr val="tx1"/>
                </a:solidFill>
                <a:latin typeface="Times New Roman" panose="02020603050405020304" pitchFamily="18" charset="0"/>
                <a:ea typeface="+mn-lt"/>
                <a:cs typeface="Times New Roman" panose="02020603050405020304" pitchFamily="18" charset="0"/>
              </a:rPr>
              <a:t>Mosfet</a:t>
            </a:r>
            <a:r>
              <a:rPr lang="en-GB" sz="4400" b="1" dirty="0">
                <a:solidFill>
                  <a:schemeClr val="tx1"/>
                </a:solidFill>
                <a:latin typeface="Times New Roman" panose="02020603050405020304" pitchFamily="18" charset="0"/>
                <a:ea typeface="+mn-lt"/>
                <a:cs typeface="Times New Roman" panose="02020603050405020304" pitchFamily="18" charset="0"/>
              </a:rPr>
              <a:t>:</a:t>
            </a:r>
            <a:r>
              <a:rPr lang="en-GB" sz="4400" dirty="0">
                <a:solidFill>
                  <a:schemeClr val="tx1"/>
                </a:solidFill>
                <a:latin typeface="Times New Roman" panose="02020603050405020304" pitchFamily="18" charset="0"/>
                <a:ea typeface="+mn-lt"/>
                <a:cs typeface="Times New Roman" panose="02020603050405020304" pitchFamily="18" charset="0"/>
              </a:rPr>
              <a:t> used for switching operation </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Diodes:</a:t>
            </a:r>
            <a:r>
              <a:rPr lang="en-GB" sz="4400" dirty="0">
                <a:solidFill>
                  <a:schemeClr val="tx1"/>
                </a:solidFill>
                <a:latin typeface="Times New Roman" panose="02020603050405020304" pitchFamily="18" charset="0"/>
                <a:ea typeface="+mn-lt"/>
                <a:cs typeface="Times New Roman" panose="02020603050405020304" pitchFamily="18" charset="0"/>
              </a:rPr>
              <a:t> bridge rectifier circuits for current conduction </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555Timer:</a:t>
            </a:r>
            <a:r>
              <a:rPr lang="en-GB" sz="4400" dirty="0">
                <a:solidFill>
                  <a:schemeClr val="tx1"/>
                </a:solidFill>
                <a:latin typeface="Times New Roman" panose="02020603050405020304" pitchFamily="18" charset="0"/>
                <a:ea typeface="+mn-lt"/>
                <a:cs typeface="Times New Roman" panose="02020603050405020304" pitchFamily="18" charset="0"/>
              </a:rPr>
              <a:t> produces pulses using timing components such as resistor and capacitor</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Coil:</a:t>
            </a:r>
            <a:r>
              <a:rPr lang="en-GB" sz="4400" dirty="0">
                <a:solidFill>
                  <a:schemeClr val="tx1"/>
                </a:solidFill>
                <a:latin typeface="Times New Roman" panose="02020603050405020304" pitchFamily="18" charset="0"/>
                <a:ea typeface="+mn-lt"/>
                <a:cs typeface="Times New Roman" panose="02020603050405020304" pitchFamily="18" charset="0"/>
              </a:rPr>
              <a:t> used for inductive coupling between transmitter and receiver side</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Voltage regulator: </a:t>
            </a:r>
            <a:r>
              <a:rPr lang="en-GB" sz="4400" dirty="0">
                <a:solidFill>
                  <a:schemeClr val="tx1"/>
                </a:solidFill>
                <a:latin typeface="Times New Roman" panose="02020603050405020304" pitchFamily="18" charset="0"/>
                <a:ea typeface="+mn-lt"/>
                <a:cs typeface="Times New Roman" panose="02020603050405020304" pitchFamily="18" charset="0"/>
              </a:rPr>
              <a:t>gives output voltage of 5v DC which can be regulated </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Connecting wires:</a:t>
            </a:r>
            <a:r>
              <a:rPr lang="en-GB" sz="4400" dirty="0">
                <a:solidFill>
                  <a:schemeClr val="tx1"/>
                </a:solidFill>
                <a:latin typeface="Times New Roman" panose="02020603050405020304" pitchFamily="18" charset="0"/>
                <a:ea typeface="+mn-lt"/>
                <a:cs typeface="Times New Roman" panose="02020603050405020304" pitchFamily="18" charset="0"/>
              </a:rPr>
              <a:t> for connection</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Battery : </a:t>
            </a:r>
            <a:r>
              <a:rPr lang="en-GB" sz="4400" dirty="0">
                <a:solidFill>
                  <a:schemeClr val="tx1"/>
                </a:solidFill>
                <a:latin typeface="Times New Roman" panose="02020603050405020304" pitchFamily="18" charset="0"/>
                <a:ea typeface="+mn-lt"/>
                <a:cs typeface="Times New Roman" panose="02020603050405020304" pitchFamily="18" charset="0"/>
              </a:rPr>
              <a:t>for power supply</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4400" b="1" dirty="0">
                <a:solidFill>
                  <a:schemeClr val="tx1"/>
                </a:solidFill>
                <a:latin typeface="Times New Roman" panose="02020603050405020304" pitchFamily="18" charset="0"/>
                <a:ea typeface="+mn-lt"/>
                <a:cs typeface="Times New Roman" panose="02020603050405020304" pitchFamily="18" charset="0"/>
              </a:rPr>
              <a:t>Bread board: </a:t>
            </a:r>
            <a:r>
              <a:rPr lang="en-GB" sz="4400" dirty="0">
                <a:solidFill>
                  <a:schemeClr val="tx1"/>
                </a:solidFill>
                <a:latin typeface="Times New Roman" panose="02020603050405020304" pitchFamily="18" charset="0"/>
                <a:ea typeface="+mn-lt"/>
                <a:cs typeface="Times New Roman" panose="02020603050405020304" pitchFamily="18" charset="0"/>
              </a:rPr>
              <a:t>to hold components that are wired together </a:t>
            </a:r>
            <a:endParaRPr lang="en-US" sz="4400" dirty="0">
              <a:solidFill>
                <a:schemeClr val="tx1"/>
              </a:solidFill>
              <a:latin typeface="Times New Roman" panose="02020603050405020304" pitchFamily="18" charset="0"/>
              <a:ea typeface="+mn-lt"/>
              <a:cs typeface="Times New Roman" panose="02020603050405020304" pitchFamily="18" charset="0"/>
            </a:endParaRPr>
          </a:p>
          <a:p>
            <a:pPr marL="359410" indent="-359410"/>
            <a:r>
              <a:rPr lang="en-GB" sz="4400" b="1" dirty="0">
                <a:solidFill>
                  <a:schemeClr val="tx1"/>
                </a:solidFill>
                <a:latin typeface="Times New Roman" panose="02020603050405020304" pitchFamily="18" charset="0"/>
                <a:cs typeface="Times New Roman" panose="02020603050405020304" pitchFamily="18" charset="0"/>
              </a:rPr>
              <a:t>Range: </a:t>
            </a:r>
            <a:r>
              <a:rPr lang="en-GB" sz="4400" dirty="0">
                <a:solidFill>
                  <a:schemeClr val="tx1"/>
                </a:solidFill>
                <a:latin typeface="Times New Roman" panose="02020603050405020304" pitchFamily="18" charset="0"/>
                <a:cs typeface="Times New Roman" panose="02020603050405020304" pitchFamily="18" charset="0"/>
              </a:rPr>
              <a:t>Near-field</a:t>
            </a:r>
          </a:p>
          <a:p>
            <a:endParaRPr lang="en-IN" dirty="0"/>
          </a:p>
        </p:txBody>
      </p:sp>
      <p:sp>
        <p:nvSpPr>
          <p:cNvPr id="6" name="Date Placeholder 5"/>
          <p:cNvSpPr>
            <a:spLocks noGrp="1"/>
          </p:cNvSpPr>
          <p:nvPr>
            <p:ph type="dt" sz="half" idx="10"/>
          </p:nvPr>
        </p:nvSpPr>
        <p:spPr/>
        <p:txBody>
          <a:bodyPr/>
          <a:lstStyle/>
          <a:p>
            <a:fld id="{9F5F9D38-E893-48EB-8CAC-AFA42C24978D}"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11</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3551469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3AB5-6486-2718-0ADF-A72200950722}"/>
              </a:ext>
            </a:extLst>
          </p:cNvPr>
          <p:cNvSpPr>
            <a:spLocks noGrp="1"/>
          </p:cNvSpPr>
          <p:nvPr>
            <p:ph type="title"/>
          </p:nvPr>
        </p:nvSpPr>
        <p:spPr>
          <a:xfrm>
            <a:off x="838200" y="535709"/>
            <a:ext cx="5257800" cy="1154979"/>
          </a:xfrm>
        </p:spPr>
        <p:txBody>
          <a:bodyPr>
            <a:normAutofit/>
          </a:bodyPr>
          <a:lstStyle/>
          <a:p>
            <a:r>
              <a:rPr lang="en-IN" sz="3600" b="1" dirty="0">
                <a:solidFill>
                  <a:srgbClr val="0070C0"/>
                </a:solidFill>
                <a:latin typeface="Times New Roman" pitchFamily="18" charset="0"/>
                <a:cs typeface="Times New Roman" pitchFamily="18" charset="0"/>
              </a:rPr>
              <a:t>Without power supply</a:t>
            </a:r>
          </a:p>
        </p:txBody>
      </p:sp>
      <p:pic>
        <p:nvPicPr>
          <p:cNvPr id="5" name="Content Placeholder 4">
            <a:extLst>
              <a:ext uri="{FF2B5EF4-FFF2-40B4-BE49-F238E27FC236}">
                <a16:creationId xmlns:a16="http://schemas.microsoft.com/office/drawing/2014/main" id="{01C87E37-F95E-518E-54F6-742DC7A8834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789043"/>
            <a:ext cx="4844727" cy="4142630"/>
          </a:xfrm>
        </p:spPr>
      </p:pic>
      <p:sp>
        <p:nvSpPr>
          <p:cNvPr id="7" name="TextBox 6">
            <a:extLst>
              <a:ext uri="{FF2B5EF4-FFF2-40B4-BE49-F238E27FC236}">
                <a16:creationId xmlns:a16="http://schemas.microsoft.com/office/drawing/2014/main" id="{849E01E5-6D4E-208A-96C6-2EBCB058C382}"/>
              </a:ext>
            </a:extLst>
          </p:cNvPr>
          <p:cNvSpPr txBox="1"/>
          <p:nvPr/>
        </p:nvSpPr>
        <p:spPr>
          <a:xfrm>
            <a:off x="6134552" y="842357"/>
            <a:ext cx="5057029" cy="646331"/>
          </a:xfrm>
          <a:prstGeom prst="rect">
            <a:avLst/>
          </a:prstGeom>
          <a:noFill/>
        </p:spPr>
        <p:txBody>
          <a:bodyPr wrap="square" rtlCol="0">
            <a:spAutoFit/>
          </a:bodyPr>
          <a:lstStyle/>
          <a:p>
            <a:r>
              <a:rPr lang="en-IN" sz="3600" b="1" dirty="0">
                <a:solidFill>
                  <a:srgbClr val="0070C0"/>
                </a:solidFill>
                <a:latin typeface="Times New Roman" pitchFamily="18" charset="0"/>
                <a:cs typeface="Times New Roman" pitchFamily="18" charset="0"/>
              </a:rPr>
              <a:t>With power supply</a:t>
            </a:r>
          </a:p>
        </p:txBody>
      </p:sp>
      <p:pic>
        <p:nvPicPr>
          <p:cNvPr id="9" name="Picture 8">
            <a:extLst>
              <a:ext uri="{FF2B5EF4-FFF2-40B4-BE49-F238E27FC236}">
                <a16:creationId xmlns:a16="http://schemas.microsoft.com/office/drawing/2014/main" id="{7D180BC7-08F6-F1DD-9A67-6D555E6960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2261" y="1789043"/>
            <a:ext cx="5387277" cy="4032040"/>
          </a:xfrm>
          <a:prstGeom prst="rect">
            <a:avLst/>
          </a:prstGeom>
        </p:spPr>
      </p:pic>
      <p:sp>
        <p:nvSpPr>
          <p:cNvPr id="6" name="Date Placeholder 5"/>
          <p:cNvSpPr>
            <a:spLocks noGrp="1"/>
          </p:cNvSpPr>
          <p:nvPr>
            <p:ph type="dt" sz="half" idx="10"/>
          </p:nvPr>
        </p:nvSpPr>
        <p:spPr/>
        <p:txBody>
          <a:bodyPr/>
          <a:lstStyle/>
          <a:p>
            <a:fld id="{DD00D128-1791-43F3-AFF1-2449FD5A1F78}" type="datetime1">
              <a:rPr lang="en-IN" smtClean="0"/>
              <a:t>16-10-2026</a:t>
            </a:fld>
            <a:endParaRPr lang="en-IN"/>
          </a:p>
        </p:txBody>
      </p:sp>
      <p:sp>
        <p:nvSpPr>
          <p:cNvPr id="8" name="Slide Number Placeholder 7"/>
          <p:cNvSpPr>
            <a:spLocks noGrp="1"/>
          </p:cNvSpPr>
          <p:nvPr>
            <p:ph type="sldNum" sz="quarter" idx="12"/>
          </p:nvPr>
        </p:nvSpPr>
        <p:spPr/>
        <p:txBody>
          <a:bodyPr/>
          <a:lstStyle/>
          <a:p>
            <a:fld id="{7115A846-9775-409A-9350-EFDC57AD31C5}" type="slidenum">
              <a:rPr lang="en-IN" smtClean="0"/>
              <a:pPr/>
              <a:t>12</a:t>
            </a:fld>
            <a:endParaRPr lang="en-IN"/>
          </a:p>
        </p:txBody>
      </p:sp>
      <p:sp>
        <p:nvSpPr>
          <p:cNvPr id="10" name="Footer Placeholder 9"/>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2802679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B070-4715-43F5-BC9D-DAFF067629CF}"/>
              </a:ext>
            </a:extLst>
          </p:cNvPr>
          <p:cNvSpPr>
            <a:spLocks noGrp="1"/>
          </p:cNvSpPr>
          <p:nvPr>
            <p:ph type="title"/>
          </p:nvPr>
        </p:nvSpPr>
        <p:spPr/>
        <p:txBody>
          <a:bodyPr/>
          <a:lstStyle/>
          <a:p>
            <a:r>
              <a:rPr lang="en-GB" b="1" dirty="0">
                <a:solidFill>
                  <a:schemeClr val="accent1"/>
                </a:solidFill>
                <a:latin typeface="Times New Roman" panose="02020603050405020304" pitchFamily="18" charset="0"/>
                <a:ea typeface="+mj-lt"/>
                <a:cs typeface="Times New Roman" panose="02020603050405020304" pitchFamily="18" charset="0"/>
              </a:rPr>
              <a:t>Results </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B77D53-6738-41C6-890D-D938AA5B2111}"/>
              </a:ext>
            </a:extLst>
          </p:cNvPr>
          <p:cNvSpPr>
            <a:spLocks noGrp="1"/>
          </p:cNvSpPr>
          <p:nvPr>
            <p:ph idx="1"/>
          </p:nvPr>
        </p:nvSpPr>
        <p:spPr/>
        <p:txBody>
          <a:bodyPr/>
          <a:lstStyle/>
          <a:p>
            <a:pPr marL="359410" indent="-359410">
              <a:lnSpc>
                <a:spcPct val="110000"/>
              </a:lnSpc>
            </a:pPr>
            <a:r>
              <a:rPr lang="en-GB" sz="2400" dirty="0">
                <a:solidFill>
                  <a:schemeClr val="tx1"/>
                </a:solidFill>
                <a:latin typeface="Times New Roman" panose="02020603050405020304" pitchFamily="18" charset="0"/>
                <a:ea typeface="+mn-lt"/>
                <a:cs typeface="Times New Roman" panose="02020603050405020304" pitchFamily="18" charset="0"/>
              </a:rPr>
              <a:t>Implemented using hardware components for near field wireless power transfer </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ea typeface="+mn-lt"/>
                <a:cs typeface="Times New Roman" panose="02020603050405020304" pitchFamily="18" charset="0"/>
              </a:rPr>
              <a:t>Circuit design is done </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ea typeface="+mn-lt"/>
                <a:cs typeface="Times New Roman" panose="02020603050405020304" pitchFamily="18" charset="0"/>
              </a:rPr>
              <a:t>Bread board connections are done </a:t>
            </a:r>
          </a:p>
          <a:p>
            <a:pPr marL="359410" indent="-359410">
              <a:lnSpc>
                <a:spcPct val="110000"/>
              </a:lnSpc>
            </a:pPr>
            <a:r>
              <a:rPr lang="en-GB" sz="2400" dirty="0">
                <a:latin typeface="Times New Roman" panose="02020603050405020304" pitchFamily="18" charset="0"/>
                <a:ea typeface="+mn-lt"/>
                <a:cs typeface="Times New Roman" panose="02020603050405020304" pitchFamily="18" charset="0"/>
              </a:rPr>
              <a:t>Mobile is charging successfully for 9V Supply </a:t>
            </a:r>
            <a:endParaRPr lang="en-US" sz="2400" dirty="0">
              <a:solidFill>
                <a:schemeClr val="tx1"/>
              </a:solidFill>
              <a:latin typeface="Times New Roman" panose="02020603050405020304" pitchFamily="18" charset="0"/>
              <a:ea typeface="+mn-lt"/>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F21E71BC-D03E-4DAE-BE8F-4A11A8452471}"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13</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2620818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D90E2D74-EAE4-490E-AEBB-2F43DA1BE99D}"/>
              </a:ext>
            </a:extLst>
          </p:cNvPr>
          <p:cNvSpPr>
            <a:spLocks noGrp="1"/>
          </p:cNvSpPr>
          <p:nvPr>
            <p:ph idx="1"/>
          </p:nvPr>
        </p:nvSpPr>
        <p:spPr>
          <a:xfrm>
            <a:off x="5183187" y="987425"/>
            <a:ext cx="6426921" cy="4873625"/>
          </a:xfrm>
        </p:spPr>
        <p:txBody>
          <a:bodyPr>
            <a:normAutofit/>
          </a:bodyPr>
          <a:lstStyle/>
          <a:p>
            <a:pPr marL="0" indent="0">
              <a:buNone/>
            </a:pPr>
            <a:r>
              <a:rPr lang="en-GB" sz="4400" b="1" dirty="0">
                <a:solidFill>
                  <a:schemeClr val="accent1"/>
                </a:solidFill>
                <a:latin typeface="Times New Roman" panose="02020603050405020304" pitchFamily="18" charset="0"/>
                <a:ea typeface="+mj-lt"/>
                <a:cs typeface="Times New Roman" panose="02020603050405020304" pitchFamily="18" charset="0"/>
              </a:rPr>
              <a:t>Challenges</a:t>
            </a:r>
          </a:p>
          <a:p>
            <a:pPr marL="359410" indent="-359410">
              <a:lnSpc>
                <a:spcPct val="140000"/>
              </a:lnSpc>
            </a:pPr>
            <a:r>
              <a:rPr lang="en-GB" sz="2400" dirty="0">
                <a:solidFill>
                  <a:schemeClr val="tx1"/>
                </a:solidFill>
                <a:latin typeface="Times New Roman" panose="02020603050405020304" pitchFamily="18" charset="0"/>
                <a:ea typeface="+mn-lt"/>
                <a:cs typeface="Times New Roman" panose="02020603050405020304" pitchFamily="18" charset="0"/>
              </a:rPr>
              <a:t>Not possible for long distance (far field)</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They're Slow. Using a wireless charger is not as fast as a wired charge</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40000"/>
              </a:lnSpc>
            </a:pPr>
            <a:r>
              <a:rPr lang="en-GB" sz="2400" dirty="0">
                <a:solidFill>
                  <a:schemeClr val="tx1"/>
                </a:solidFill>
                <a:latin typeface="Times New Roman" panose="02020603050405020304" pitchFamily="18" charset="0"/>
                <a:cs typeface="Times New Roman" panose="02020603050405020304" pitchFamily="18" charset="0"/>
              </a:rPr>
              <a:t>Continued exposure to heat can result in battery damage (inefficient)</a:t>
            </a:r>
            <a:endParaRPr lang="en-US" sz="2400" dirty="0">
              <a:solidFill>
                <a:schemeClr val="tx1"/>
              </a:solidFill>
              <a:latin typeface="Times New Roman" panose="02020603050405020304" pitchFamily="18" charset="0"/>
              <a:ea typeface="+mn-lt"/>
              <a:cs typeface="Times New Roman" panose="02020603050405020304" pitchFamily="18" charset="0"/>
            </a:endParaRPr>
          </a:p>
          <a:p>
            <a:endParaRPr lang="en-IN" dirty="0"/>
          </a:p>
        </p:txBody>
      </p:sp>
      <p:pic>
        <p:nvPicPr>
          <p:cNvPr id="7" name="Picture 4" descr="Icon&#10;&#10;Description automatically generated">
            <a:extLst>
              <a:ext uri="{FF2B5EF4-FFF2-40B4-BE49-F238E27FC236}">
                <a16:creationId xmlns:a16="http://schemas.microsoft.com/office/drawing/2014/main" id="{BD56FE22-6FAF-45F0-8EE8-5B52A08AC721}"/>
              </a:ext>
            </a:extLst>
          </p:cNvPr>
          <p:cNvPicPr>
            <a:picLocks noChangeAspect="1"/>
          </p:cNvPicPr>
          <p:nvPr/>
        </p:nvPicPr>
        <p:blipFill>
          <a:blip r:embed="rId2" cstate="print"/>
          <a:stretch>
            <a:fillRect/>
          </a:stretch>
        </p:blipFill>
        <p:spPr>
          <a:xfrm>
            <a:off x="0" y="732514"/>
            <a:ext cx="4999885" cy="4999885"/>
          </a:xfrm>
          <a:prstGeom prst="rect">
            <a:avLst/>
          </a:prstGeom>
        </p:spPr>
      </p:pic>
      <p:sp>
        <p:nvSpPr>
          <p:cNvPr id="5" name="Date Placeholder 4"/>
          <p:cNvSpPr>
            <a:spLocks noGrp="1"/>
          </p:cNvSpPr>
          <p:nvPr>
            <p:ph type="dt" sz="half" idx="10"/>
          </p:nvPr>
        </p:nvSpPr>
        <p:spPr/>
        <p:txBody>
          <a:bodyPr/>
          <a:lstStyle/>
          <a:p>
            <a:fld id="{4E1BF246-FB10-4217-B4CF-33F707E93E80}" type="datetime1">
              <a:rPr lang="en-IN" smtClean="0"/>
              <a:t>16-10-2026</a:t>
            </a:fld>
            <a:endParaRPr lang="en-IN"/>
          </a:p>
        </p:txBody>
      </p:sp>
      <p:sp>
        <p:nvSpPr>
          <p:cNvPr id="8" name="Slide Number Placeholder 7"/>
          <p:cNvSpPr>
            <a:spLocks noGrp="1"/>
          </p:cNvSpPr>
          <p:nvPr>
            <p:ph type="sldNum" sz="quarter" idx="12"/>
          </p:nvPr>
        </p:nvSpPr>
        <p:spPr/>
        <p:txBody>
          <a:bodyPr/>
          <a:lstStyle/>
          <a:p>
            <a:fld id="{7115A846-9775-409A-9350-EFDC57AD31C5}" type="slidenum">
              <a:rPr lang="en-IN" smtClean="0"/>
              <a:pPr/>
              <a:t>14</a:t>
            </a:fld>
            <a:endParaRPr lang="en-IN"/>
          </a:p>
        </p:txBody>
      </p:sp>
      <p:sp>
        <p:nvSpPr>
          <p:cNvPr id="10" name="Footer Placeholder 9"/>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488910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9256-D034-42F4-9036-14CD6ED0C974}"/>
              </a:ext>
            </a:extLst>
          </p:cNvPr>
          <p:cNvSpPr>
            <a:spLocks noGrp="1"/>
          </p:cNvSpPr>
          <p:nvPr>
            <p:ph type="title"/>
          </p:nvPr>
        </p:nvSpPr>
        <p:spPr>
          <a:xfrm>
            <a:off x="838200" y="500062"/>
            <a:ext cx="10515600" cy="1325563"/>
          </a:xfrm>
        </p:spPr>
        <p:txBody>
          <a:bodyPr/>
          <a:lstStyle/>
          <a:p>
            <a:r>
              <a:rPr lang="en-GB" b="1" dirty="0">
                <a:solidFill>
                  <a:schemeClr val="accent1"/>
                </a:solidFill>
                <a:latin typeface="Times New Roman" panose="02020603050405020304" pitchFamily="18" charset="0"/>
                <a:ea typeface="+mj-lt"/>
                <a:cs typeface="Times New Roman" panose="02020603050405020304" pitchFamily="18" charset="0"/>
              </a:rPr>
              <a:t>References</a:t>
            </a:r>
            <a:r>
              <a:rPr lang="en-GB" b="1" dirty="0">
                <a:latin typeface="Times New Roman" panose="02020603050405020304" pitchFamily="18" charset="0"/>
                <a:ea typeface="+mj-lt"/>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B29E2B6-DCF7-4792-B69E-4DD8DF0036B5}"/>
              </a:ext>
            </a:extLst>
          </p:cNvPr>
          <p:cNvSpPr>
            <a:spLocks noGrp="1"/>
          </p:cNvSpPr>
          <p:nvPr>
            <p:ph idx="1"/>
          </p:nvPr>
        </p:nvSpPr>
        <p:spPr/>
        <p:txBody>
          <a:bodyPr>
            <a:normAutofit/>
          </a:bodyPr>
          <a:lstStyle/>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https://arxiv.org/pdf/1509.00940.pdf</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https://www.researchgate.net/publication/267695945_Wireless_Charger_Networking_for_Mobile_Devices_Fundamentals_Standards_and_Applications</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https://ieeexplore.ieee.org/document/8397783</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https://www.sciencedirect.com/science/article/pii/S2352146521004610</a:t>
            </a:r>
            <a:endParaRPr lang="en-US"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https://www.instructables.com/DIY-Wireless-Charger/</a:t>
            </a:r>
            <a:endParaRPr lang="en-GB" sz="2400" dirty="0">
              <a:solidFill>
                <a:schemeClr val="tx1"/>
              </a:solidFill>
              <a:latin typeface="Times New Roman" panose="02020603050405020304" pitchFamily="18" charset="0"/>
              <a:ea typeface="+mn-lt"/>
              <a:cs typeface="Times New Roman" panose="02020603050405020304" pitchFamily="18" charset="0"/>
            </a:endParaRPr>
          </a:p>
          <a:p>
            <a:pPr marL="359410" indent="-359410">
              <a:lnSpc>
                <a:spcPct val="110000"/>
              </a:lnSpc>
            </a:pPr>
            <a:r>
              <a:rPr lang="en-GB" sz="24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wireless charger networking</a:t>
            </a:r>
            <a:r>
              <a:rPr lang="en-GB" sz="2400" dirty="0">
                <a:solidFill>
                  <a:schemeClr val="tx1"/>
                </a:solidFill>
                <a:latin typeface="Times New Roman" panose="02020603050405020304" pitchFamily="18" charset="0"/>
                <a:cs typeface="Times New Roman" panose="02020603050405020304" pitchFamily="18" charset="0"/>
              </a:rPr>
              <a:t> </a:t>
            </a:r>
            <a:endParaRPr lang="en-US" sz="2400" dirty="0">
              <a:solidFill>
                <a:schemeClr val="tx1"/>
              </a:solidFill>
              <a:latin typeface="Times New Roman" panose="02020603050405020304" pitchFamily="18" charset="0"/>
              <a:ea typeface="+mn-lt"/>
              <a:cs typeface="Times New Roman" panose="02020603050405020304" pitchFamily="18" charset="0"/>
            </a:endParaRPr>
          </a:p>
          <a:p>
            <a:endParaRPr lang="en-IN" dirty="0"/>
          </a:p>
        </p:txBody>
      </p:sp>
      <p:sp>
        <p:nvSpPr>
          <p:cNvPr id="6" name="Date Placeholder 5"/>
          <p:cNvSpPr>
            <a:spLocks noGrp="1"/>
          </p:cNvSpPr>
          <p:nvPr>
            <p:ph type="dt" sz="half" idx="10"/>
          </p:nvPr>
        </p:nvSpPr>
        <p:spPr/>
        <p:txBody>
          <a:bodyPr/>
          <a:lstStyle/>
          <a:p>
            <a:fld id="{3ABB3FDA-E20A-4F3C-9A13-88D2E7AD979A}" type="datetime1">
              <a:rPr lang="en-IN" smtClean="0"/>
              <a:t>16-10-2026</a:t>
            </a:fld>
            <a:endParaRPr lang="en-IN"/>
          </a:p>
        </p:txBody>
      </p:sp>
      <p:sp>
        <p:nvSpPr>
          <p:cNvPr id="7" name="Slide Number Placeholder 6"/>
          <p:cNvSpPr>
            <a:spLocks noGrp="1"/>
          </p:cNvSpPr>
          <p:nvPr>
            <p:ph type="sldNum" sz="quarter" idx="12"/>
          </p:nvPr>
        </p:nvSpPr>
        <p:spPr/>
        <p:txBody>
          <a:bodyPr/>
          <a:lstStyle/>
          <a:p>
            <a:fld id="{7115A846-9775-409A-9350-EFDC57AD31C5}" type="slidenum">
              <a:rPr lang="en-IN" smtClean="0"/>
              <a:pPr/>
              <a:t>15</a:t>
            </a:fld>
            <a:endParaRPr lang="en-IN"/>
          </a:p>
        </p:txBody>
      </p:sp>
      <p:sp>
        <p:nvSpPr>
          <p:cNvPr id="8" name="Footer Placeholder 7"/>
          <p:cNvSpPr>
            <a:spLocks noGrp="1"/>
          </p:cNvSpPr>
          <p:nvPr>
            <p:ph type="ftr" sz="quarter" idx="11"/>
          </p:nvPr>
        </p:nvSpPr>
        <p:spPr/>
        <p:txBody>
          <a:bodyPr/>
          <a:lstStyle/>
          <a:p>
            <a:r>
              <a:rPr lang="en-IN"/>
              <a:t>19ECE384 / Open Lab ,VI Semester, B.Tech(ECE-A)</a:t>
            </a:r>
          </a:p>
        </p:txBody>
      </p:sp>
    </p:spTree>
    <p:extLst>
      <p:ext uri="{BB962C8B-B14F-4D97-AF65-F5344CB8AC3E}">
        <p14:creationId xmlns:p14="http://schemas.microsoft.com/office/powerpoint/2010/main" val="2387057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TotalTime>
  <Words>725</Words>
  <Application>Microsoft Office PowerPoint</Application>
  <PresentationFormat>Widescreen</PresentationFormat>
  <Paragraphs>120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Wireless mobile charger</vt:lpstr>
      <vt:lpstr>Contents</vt:lpstr>
      <vt:lpstr>PowerPoint Presentation</vt:lpstr>
      <vt:lpstr>How does it work?</vt:lpstr>
      <vt:lpstr>Inside view of Mobile for charge</vt:lpstr>
      <vt:lpstr>PowerPoint Presentation</vt:lpstr>
      <vt:lpstr>Circuit diagram</vt:lpstr>
      <vt:lpstr>Working Principle</vt:lpstr>
      <vt:lpstr>PowerPoint Presentation</vt:lpstr>
      <vt:lpstr>PowerPoint Presentation</vt:lpstr>
      <vt:lpstr>Justification of the rating</vt:lpstr>
      <vt:lpstr>Without power supply</vt:lpstr>
      <vt:lpstr>Results </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mobile charger</dc:title>
  <dc:creator>Amrutha Mupparaju</dc:creator>
  <cp:lastModifiedBy>Amrutha Mupparaju</cp:lastModifiedBy>
  <cp:revision>18</cp:revision>
  <dcterms:created xsi:type="dcterms:W3CDTF">2022-04-21T06:51:38Z</dcterms:created>
  <dcterms:modified xsi:type="dcterms:W3CDTF">2026-10-16T05:32:04Z</dcterms:modified>
</cp:coreProperties>
</file>